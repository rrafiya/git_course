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4DD4FF"/>
    <a:srgbClr val="9FE8FF"/>
    <a:srgbClr val="FFD166"/>
    <a:srgbClr val="0B102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微软雅黑" panose="020B0503020204020204" charset="-122"/>
          <a:ea typeface="微软雅黑" panose="020B0503020204020204" charset="-122"/>
        </a:defRPr>
      </a:lvl1pPr>
    </p:titleStyle>
    <p:bodyStyle>
      <a:lvl1pPr algn="l">
        <a:defRPr sz="1400">
          <a:solidFill>
            <a:srgbClr val="DCE6FA"/>
          </a:solidFill>
          <a:latin typeface="微软雅黑" panose="020B0503020204020204" charset="-122"/>
          <a:ea typeface="微软雅黑" panose="020B0503020204020204" charset="-122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r2"/>
          <p:cNvSpPr/>
          <p:nvPr/>
        </p:nvSpPr>
        <p:spPr>
          <a:xfrm rot="1080000">
            <a:off x="-1828800" y="-1463040"/>
            <a:ext cx="7863840" cy="10241280"/>
          </a:xfrm>
          <a:prstGeom prst="roundRect">
            <a:avLst>
              <a:gd name="adj" fmla="val 12000"/>
            </a:avLst>
          </a:prstGeom>
          <a:solidFill>
            <a:srgbClr val="12325A">
              <a:alpha val="45000"/>
            </a:srgb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3" name="rr3"/>
          <p:cNvSpPr/>
          <p:nvPr/>
        </p:nvSpPr>
        <p:spPr>
          <a:xfrm rot="-840000">
            <a:off x="6949440" y="2011680"/>
            <a:ext cx="7680960" cy="8229600"/>
          </a:xfrm>
          <a:prstGeom prst="roundRect">
            <a:avLst>
              <a:gd name="adj" fmla="val 12000"/>
            </a:avLst>
          </a:prstGeom>
          <a:solidFill>
            <a:srgbClr val="3A1A2C">
              <a:alpha val="55000"/>
            </a:srgb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914400" y="1847088"/>
            <a:ext cx="1371600" cy="68580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5" name="tb5"/>
          <p:cNvSpPr txBox="1"/>
          <p:nvPr/>
        </p:nvSpPr>
        <p:spPr>
          <a:xfrm>
            <a:off x="914400" y="2029968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与 GitHub 课程</a:t>
            </a:r>
            <a:r>
              <a:rPr lang="zh-CN" altLang="en-US" sz="40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endParaRPr lang="zh-CN" altLang="en-US" sz="40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b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以「雷霆战机」小游戏项目为完整案例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b9"/>
          <p:cNvSpPr txBox="1"/>
          <p:nvPr/>
        </p:nvSpPr>
        <p:spPr>
          <a:xfrm>
            <a:off x="914400" y="4718304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仓库地址：github.com/rrafiya/git_course</a:t>
            </a:r>
            <a:endParaRPr lang="zh-CN" altLang="en-US" sz="14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c1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1" name="tb11"/>
          <p:cNvSpPr txBox="1"/>
          <p:nvPr/>
        </p:nvSpPr>
        <p:spPr>
          <a:xfrm>
            <a:off x="777240" y="631063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r12"/>
          <p:cNvSpPr/>
          <p:nvPr/>
        </p:nvSpPr>
        <p:spPr>
          <a:xfrm>
            <a:off x="777240" y="1371600"/>
            <a:ext cx="10637215" cy="4983480"/>
          </a:xfrm>
          <a:prstGeom prst="roundRect">
            <a:avLst>
              <a:gd name="adj" fmla="val 3000"/>
            </a:avLst>
          </a:prstGeom>
          <a:solidFill>
            <a:srgbClr val="111A2C"/>
          </a:solidFill>
          <a:ln w="9525">
            <a:solidFill>
              <a:srgbClr val="23304A"/>
            </a:solidFill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3" name="tb13"/>
          <p:cNvSpPr txBox="1"/>
          <p:nvPr/>
        </p:nvSpPr>
        <p:spPr>
          <a:xfrm>
            <a:off x="1234440" y="1700784"/>
            <a:ext cx="9722815" cy="434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 panose="020B0604020202020204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 Git 和 GitHub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 panose="020B0604020202020204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二、核心概念：三个区域与 push / pull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 panose="020B0604020202020204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三、日常开发五步循环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 panose="020B0604020202020204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四、完整实战：从空文件夹到上线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 panose="020B0604020202020204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五、进阶用法：提交规范、排查、分支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 panose="020B0604020202020204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六、项目遇到的</a:t>
            </a:r>
            <a:r>
              <a:rPr lang="zh-CN" altLang="en-US" sz="190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90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tb25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c14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5" name="tb15"/>
          <p:cNvSpPr txBox="1"/>
          <p:nvPr/>
        </p:nvSpPr>
        <p:spPr>
          <a:xfrm>
            <a:off x="777240" y="727583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本次案例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b17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 HTML5 Canvas 竖版飞行射击小游戏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b18"/>
          <p:cNvSpPr txBox="1"/>
          <p:nvPr>
            <p:custDataLst>
              <p:tags r:id="rId1"/>
            </p:custDataLst>
          </p:nvPr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b19"/>
          <p:cNvSpPr txBox="1"/>
          <p:nvPr>
            <p:custDataLst>
              <p:tags r:id="rId2"/>
            </p:custDataLst>
          </p:nvPr>
        </p:nvSpPr>
        <p:spPr>
          <a:xfrm>
            <a:off x="1051560" y="1897634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单文件、零依赖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b20"/>
          <p:cNvSpPr txBox="1"/>
          <p:nvPr>
            <p:custDataLst>
              <p:tags r:id="rId3"/>
            </p:custDataLst>
          </p:nvPr>
        </p:nvSpPr>
        <p:spPr>
          <a:xfrm>
            <a:off x="777240" y="2278253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b21"/>
          <p:cNvSpPr txBox="1"/>
          <p:nvPr>
            <p:custDataLst>
              <p:tags r:id="rId4"/>
            </p:custDataLst>
          </p:nvPr>
        </p:nvSpPr>
        <p:spPr>
          <a:xfrm>
            <a:off x="1051560" y="2250821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配套一个 diagnose.html 用于排查显示问题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b22"/>
          <p:cNvSpPr txBox="1"/>
          <p:nvPr>
            <p:custDataLst>
              <p:tags r:id="rId5"/>
            </p:custDataLst>
          </p:nvPr>
        </p:nvSpPr>
        <p:spPr>
          <a:xfrm>
            <a:off x="777240" y="2631440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b23"/>
          <p:cNvSpPr txBox="1"/>
          <p:nvPr>
            <p:custDataLst>
              <p:tags r:id="rId6"/>
            </p:custDataLst>
          </p:nvPr>
        </p:nvSpPr>
        <p:spPr>
          <a:xfrm>
            <a:off x="1051560" y="2604008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整个开发过程</a:t>
            </a: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每一步都做了版本控制</a:t>
            </a:r>
            <a:endParaRPr lang="zh-CN" altLang="en-US" sz="135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b24"/>
          <p:cNvSpPr txBox="1"/>
          <p:nvPr>
            <p:custDataLst>
              <p:tags r:id="rId7"/>
            </p:custDataLst>
          </p:nvPr>
        </p:nvSpPr>
        <p:spPr>
          <a:xfrm>
            <a:off x="777240" y="2984627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b25"/>
          <p:cNvSpPr txBox="1"/>
          <p:nvPr>
            <p:custDataLst>
              <p:tags r:id="rId8"/>
            </p:custDataLst>
          </p:nvPr>
        </p:nvSpPr>
        <p:spPr>
          <a:xfrm>
            <a:off x="1051560" y="2957195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从空文件夹开始，共 11 次提交，全部推送到 GitHub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5" name="tb255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3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16" name="10_game_play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9650" y="1371600"/>
            <a:ext cx="3737610" cy="4983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c4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43" name="tb43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核心概念①：Git 的三个区域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b45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文件从「改好」到「被记录」要经过三个区域</a:t>
            </a:r>
            <a:endParaRPr lang="zh-CN" altLang="en-US" sz="1300" b="0" i="0" dirty="0">
              <a:solidFill>
                <a:srgbClr val="6C7A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tb257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5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44" name="02_three_are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905" y="1371600"/>
            <a:ext cx="8337884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c4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47" name="tb47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核心概念②：本地仓库 ↔ 远程仓库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b49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是分布式的：本地有完整历史，GitHub 只是另一个副本</a:t>
            </a:r>
            <a:endParaRPr lang="zh-CN" altLang="en-US" sz="1300" b="0" i="0" dirty="0">
              <a:solidFill>
                <a:srgbClr val="6C7A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tb258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6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48" name="03_push_p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231" y="1371600"/>
            <a:ext cx="8563232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c5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51" name="tb51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核心概念③：日常开发的完整循环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b53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改代码 → 看状态 → 加暂存 → 提交 → 推送</a:t>
            </a:r>
            <a:endParaRPr lang="zh-CN" altLang="en-US" sz="1300" b="0" i="0" dirty="0">
              <a:solidFill>
                <a:srgbClr val="6C7A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tb259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7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52" name="05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801" y="1371600"/>
            <a:ext cx="8124092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c54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55" name="tb55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常用命令速查表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b57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 ✓ 的命令都是本案例实际用到的</a:t>
            </a:r>
            <a:endParaRPr lang="zh-CN" altLang="en-US" sz="1300" b="0" i="0" dirty="0">
              <a:solidFill>
                <a:srgbClr val="6C7A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tb260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8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56" name="07_cheatshe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5214" y="1371600"/>
            <a:ext cx="6741268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c58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59" name="tb59"/>
          <p:cNvSpPr txBox="1"/>
          <p:nvPr/>
        </p:nvSpPr>
        <p:spPr>
          <a:xfrm>
            <a:off x="710565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实战·第 0 步：初始化与关联远程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b60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在一个空文件夹里开始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r61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62" name="tb62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cd C:\Users\Amadeus\Documents\git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3" name="rr63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64" name="tb64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init -b main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5" name="rr65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66" name="tb66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config --global user.name  "你的名字"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7" name="rr67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68" name="tb68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config --global user.email "你的邮箱"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9" name="tb69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b70"/>
          <p:cNvSpPr txBox="1"/>
          <p:nvPr/>
        </p:nvSpPr>
        <p:spPr>
          <a:xfrm>
            <a:off x="1051560" y="3332226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init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会在当前目录创建隐藏的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.git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文件夹 —— 它就是版本库本体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b71"/>
          <p:cNvSpPr txBox="1"/>
          <p:nvPr/>
        </p:nvSpPr>
        <p:spPr>
          <a:xfrm>
            <a:off x="777240" y="3730879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b72"/>
          <p:cNvSpPr txBox="1"/>
          <p:nvPr/>
        </p:nvSpPr>
        <p:spPr>
          <a:xfrm>
            <a:off x="1051560" y="3703447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不配置姓名邮箱，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commit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会直接报错</a:t>
            </a: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（本案例一开始就是空配置，提交时才补上）</a:t>
            </a:r>
            <a:endParaRPr lang="zh-CN" altLang="en-US" sz="145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b73"/>
          <p:cNvSpPr txBox="1"/>
          <p:nvPr/>
        </p:nvSpPr>
        <p:spPr>
          <a:xfrm>
            <a:off x="777240" y="4102100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b74"/>
          <p:cNvSpPr txBox="1"/>
          <p:nvPr/>
        </p:nvSpPr>
        <p:spPr>
          <a:xfrm>
            <a:off x="1051560" y="4074668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-b main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指定主分支名为 main（GitHub 的默认约定）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1" name="tb261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9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c75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76" name="tb76"/>
          <p:cNvSpPr txBox="1"/>
          <p:nvPr/>
        </p:nvSpPr>
        <p:spPr>
          <a:xfrm>
            <a:off x="777240" y="73583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实战·第 1 步：首次提交并推送到 GitHub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tb77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commit（存到本地），再 push（传到云端）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rr78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79" name="tb79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add -A                       # 把所有改动加入暂存区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0" name="rr80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81" name="tb81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commit -m "chore: initial commit"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2" name="rr82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83" name="tb83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remote add origin https://github.com/用户名/仓库名.git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4" name="rr84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85" name="tb85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push -u origin main          # 首次推送，-u 建立跟踪关系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6" name="tb86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b87"/>
          <p:cNvSpPr txBox="1"/>
          <p:nvPr/>
        </p:nvSpPr>
        <p:spPr>
          <a:xfrm>
            <a:off x="1051560" y="3332226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两次推送之后就只需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push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，Git 已记住推到哪里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b88"/>
          <p:cNvSpPr txBox="1"/>
          <p:nvPr/>
        </p:nvSpPr>
        <p:spPr>
          <a:xfrm>
            <a:off x="777240" y="3730879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b89"/>
          <p:cNvSpPr txBox="1"/>
          <p:nvPr/>
        </p:nvSpPr>
        <p:spPr>
          <a:xfrm>
            <a:off x="1051560" y="3703447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commit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之后 GitHub 上还看不到，必须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push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才同步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rc90"/>
          <p:cNvSpPr/>
          <p:nvPr/>
        </p:nvSpPr>
        <p:spPr>
          <a:xfrm>
            <a:off x="777240" y="4083812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91" name="tb91"/>
          <p:cNvSpPr txBox="1"/>
          <p:nvPr/>
        </p:nvSpPr>
        <p:spPr>
          <a:xfrm>
            <a:off x="960120" y="4070096"/>
            <a:ext cx="10417759" cy="2981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本案例第 1 次提交 1902551：只包含 .gitignore 和 README.md 两个文件。</a:t>
            </a:r>
            <a:endParaRPr lang="zh-CN" altLang="en-US" sz="1400" b="0" i="0" dirty="0">
              <a:solidFill>
                <a:srgbClr val="63F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tb262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10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c9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93" name="tb93"/>
          <p:cNvSpPr txBox="1"/>
          <p:nvPr/>
        </p:nvSpPr>
        <p:spPr>
          <a:xfrm>
            <a:off x="777240" y="749173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实战·日常循环：改完就提交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b95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每次修改都遵循同一套动作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r96"/>
          <p:cNvSpPr/>
          <p:nvPr/>
        </p:nvSpPr>
        <p:spPr>
          <a:xfrm>
            <a:off x="777240" y="1861058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97" name="tb97"/>
          <p:cNvSpPr txBox="1"/>
          <p:nvPr/>
        </p:nvSpPr>
        <p:spPr>
          <a:xfrm>
            <a:off x="923544" y="1920494"/>
            <a:ext cx="540684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status          # 改了哪些文件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98" name="rr98"/>
          <p:cNvSpPr/>
          <p:nvPr/>
        </p:nvSpPr>
        <p:spPr>
          <a:xfrm>
            <a:off x="777240" y="2219706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99" name="tb99"/>
          <p:cNvSpPr txBox="1"/>
          <p:nvPr/>
        </p:nvSpPr>
        <p:spPr>
          <a:xfrm>
            <a:off x="923544" y="2279142"/>
            <a:ext cx="540684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add -A          # 加入暂存区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0" name="rr100"/>
          <p:cNvSpPr/>
          <p:nvPr/>
        </p:nvSpPr>
        <p:spPr>
          <a:xfrm>
            <a:off x="777240" y="2578354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01" name="tb101"/>
          <p:cNvSpPr txBox="1"/>
          <p:nvPr/>
        </p:nvSpPr>
        <p:spPr>
          <a:xfrm>
            <a:off x="923544" y="2637790"/>
            <a:ext cx="540684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commit -m "..." # 提交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2" name="rr102"/>
          <p:cNvSpPr/>
          <p:nvPr/>
        </p:nvSpPr>
        <p:spPr>
          <a:xfrm>
            <a:off x="777240" y="2937002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03" name="tb103"/>
          <p:cNvSpPr txBox="1"/>
          <p:nvPr/>
        </p:nvSpPr>
        <p:spPr>
          <a:xfrm>
            <a:off x="923544" y="2996438"/>
            <a:ext cx="540684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push            # 推送到 GitHub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4" name="tb104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b105"/>
          <p:cNvSpPr txBox="1"/>
          <p:nvPr/>
        </p:nvSpPr>
        <p:spPr>
          <a:xfrm>
            <a:off x="1051560" y="3332226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动手前先 </a:t>
            </a: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status</a:t>
            </a: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是最有效的防误提交习惯</a:t>
            </a:r>
            <a:endParaRPr lang="zh-CN" altLang="en-US" sz="135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3" name="tb263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11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94" name="01_term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455" y="2584730"/>
            <a:ext cx="4572000" cy="25572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c10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07" name="tb107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实战·本案例的 11 次提交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b109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每次修改都是独立一次提交，历史清晰可追溯</a:t>
            </a:r>
            <a:endParaRPr lang="zh-CN" altLang="en-US" sz="1300" b="0" i="0" dirty="0">
              <a:solidFill>
                <a:srgbClr val="6C7A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tb26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12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108" name="04_tim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08" y="1371600"/>
            <a:ext cx="7040880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c10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07" name="tb107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实战·本案例协作</a:t>
            </a: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tb26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12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493520"/>
            <a:ext cx="8281035" cy="42487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c11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11" name="tb111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实战·一个完整的 bug 修复闭环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b113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以「GAME OVER 文字被裁切」为例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b114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b115"/>
          <p:cNvSpPr txBox="1"/>
          <p:nvPr/>
        </p:nvSpPr>
        <p:spPr>
          <a:xfrm>
            <a:off x="1051560" y="1897634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用户反馈 + 提供截图</a:t>
            </a: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现象：文字右侧被切掉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b116"/>
          <p:cNvSpPr txBox="1"/>
          <p:nvPr/>
        </p:nvSpPr>
        <p:spPr>
          <a:xfrm>
            <a:off x="777240" y="2278253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b117"/>
          <p:cNvSpPr txBox="1"/>
          <p:nvPr/>
        </p:nvSpPr>
        <p:spPr>
          <a:xfrm>
            <a:off x="1051560" y="2250821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复现</a:t>
            </a: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在真实 Chrome 中复现，测量像素范围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b118"/>
          <p:cNvSpPr txBox="1"/>
          <p:nvPr/>
        </p:nvSpPr>
        <p:spPr>
          <a:xfrm>
            <a:off x="777240" y="2631440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b119"/>
          <p:cNvSpPr txBox="1"/>
          <p:nvPr/>
        </p:nvSpPr>
        <p:spPr>
          <a:xfrm>
            <a:off x="1051560" y="2604008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定位根因</a:t>
            </a: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依赖 measureText 的测量结果不可靠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b120"/>
          <p:cNvSpPr txBox="1"/>
          <p:nvPr/>
        </p:nvSpPr>
        <p:spPr>
          <a:xfrm>
            <a:off x="777240" y="2984627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tb121"/>
          <p:cNvSpPr txBox="1"/>
          <p:nvPr/>
        </p:nvSpPr>
        <p:spPr>
          <a:xfrm>
            <a:off x="1051560" y="2957195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修复 + 写测试</a:t>
            </a: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换成逐字定位，并验证各尺寸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tb122"/>
          <p:cNvSpPr txBox="1"/>
          <p:nvPr/>
        </p:nvSpPr>
        <p:spPr>
          <a:xfrm>
            <a:off x="777240" y="3337814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tb123"/>
          <p:cNvSpPr txBox="1"/>
          <p:nvPr/>
        </p:nvSpPr>
        <p:spPr>
          <a:xfrm>
            <a:off x="1051560" y="3310382"/>
            <a:ext cx="5425135" cy="28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提交并推送</a:t>
            </a:r>
            <a:r>
              <a:rPr lang="zh-CN" altLang="en-US" sz="13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提交信息写清根因、方案、验证数据</a:t>
            </a:r>
            <a:endParaRPr lang="zh-CN" altLang="en-US" sz="13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rc124"/>
          <p:cNvSpPr/>
          <p:nvPr/>
        </p:nvSpPr>
        <p:spPr>
          <a:xfrm>
            <a:off x="777240" y="3672713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25" name="tb125"/>
          <p:cNvSpPr txBox="1"/>
          <p:nvPr/>
        </p:nvSpPr>
        <p:spPr>
          <a:xfrm>
            <a:off x="960120" y="3658997"/>
            <a:ext cx="5479999" cy="2981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诊断工具输出「✅ 未检测到显示问题」，修复得到验证。</a:t>
            </a:r>
            <a:endParaRPr lang="zh-CN" altLang="en-US" sz="1400" b="0" i="0" dirty="0">
              <a:solidFill>
                <a:srgbClr val="63F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5" name="tb265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13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112" name="12_diagno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455" y="2506028"/>
            <a:ext cx="4572000" cy="27146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c12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27" name="tb127"/>
          <p:cNvSpPr txBox="1"/>
          <p:nvPr/>
        </p:nvSpPr>
        <p:spPr>
          <a:xfrm>
            <a:off x="777240" y="714883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写好提交信息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b128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对比一下两种提交信息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rc129"/>
          <p:cNvSpPr/>
          <p:nvPr/>
        </p:nvSpPr>
        <p:spPr>
          <a:xfrm>
            <a:off x="777240" y="190677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30" name="tb130"/>
          <p:cNvSpPr txBox="1"/>
          <p:nvPr/>
        </p:nvSpPr>
        <p:spPr>
          <a:xfrm>
            <a:off x="960120" y="1893062"/>
            <a:ext cx="10417759" cy="2981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差的写法：update   /   修好了   /   asdf</a:t>
            </a:r>
            <a:endParaRPr lang="zh-CN" altLang="en-US" sz="1400" b="0" i="0" dirty="0">
              <a:solidFill>
                <a:srgbClr val="63F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rc131"/>
          <p:cNvSpPr/>
          <p:nvPr/>
        </p:nvSpPr>
        <p:spPr>
          <a:xfrm>
            <a:off x="777240" y="2273554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32" name="tb132"/>
          <p:cNvSpPr txBox="1"/>
          <p:nvPr/>
        </p:nvSpPr>
        <p:spPr>
          <a:xfrm>
            <a:off x="960120" y="2259838"/>
            <a:ext cx="10417759" cy="2981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好的写法：fix: 修复浏览器缩放导致画布溢出窗口；文字加硬夹紧</a:t>
            </a:r>
            <a:endParaRPr lang="zh-CN" altLang="en-US" sz="1400" b="0" i="0" dirty="0">
              <a:solidFill>
                <a:srgbClr val="63F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tb133"/>
          <p:cNvSpPr txBox="1"/>
          <p:nvPr/>
        </p:nvSpPr>
        <p:spPr>
          <a:xfrm>
            <a:off x="777240" y="265861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tb134"/>
          <p:cNvSpPr txBox="1"/>
          <p:nvPr/>
        </p:nvSpPr>
        <p:spPr>
          <a:xfrm>
            <a:off x="1051560" y="2631186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认真写提交信息的原因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tb135"/>
          <p:cNvSpPr txBox="1"/>
          <p:nvPr/>
        </p:nvSpPr>
        <p:spPr>
          <a:xfrm>
            <a:off x="1051560" y="2952115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之后回看，能立刻知道修改</a:t>
            </a: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tb136"/>
          <p:cNvSpPr txBox="1"/>
          <p:nvPr/>
        </p:nvSpPr>
        <p:spPr>
          <a:xfrm>
            <a:off x="1051560" y="3236849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出现问题时可以用 </a:t>
            </a:r>
            <a:r>
              <a:rPr lang="zh-CN" altLang="en-US" sz="120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log</a:t>
            </a: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快速定位是哪次改动引入的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tb137"/>
          <p:cNvSpPr txBox="1"/>
          <p:nvPr/>
        </p:nvSpPr>
        <p:spPr>
          <a:xfrm>
            <a:off x="1051560" y="3521583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团队协作时，别人能看懂改动意图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tb138"/>
          <p:cNvSpPr txBox="1"/>
          <p:nvPr/>
        </p:nvSpPr>
        <p:spPr>
          <a:xfrm>
            <a:off x="777240" y="3884041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tb139"/>
          <p:cNvSpPr txBox="1"/>
          <p:nvPr/>
        </p:nvSpPr>
        <p:spPr>
          <a:xfrm>
            <a:off x="1051560" y="3856609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推荐前缀约定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feat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新功能 /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fix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修 bug /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docs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文档 /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chore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杂项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tb140"/>
          <p:cNvSpPr txBox="1"/>
          <p:nvPr/>
        </p:nvSpPr>
        <p:spPr>
          <a:xfrm>
            <a:off x="777240" y="4255262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tb141"/>
          <p:cNvSpPr txBox="1"/>
          <p:nvPr/>
        </p:nvSpPr>
        <p:spPr>
          <a:xfrm>
            <a:off x="1051560" y="4227830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内容较长时用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commit -F 文件名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从文件读取多行说明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tb266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14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c14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43" name="tb143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进阶·三个排查问题的实用命令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tb144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出问题时，先用这三个命令把情况看清楚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rr145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46" name="tb146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log --oneline --graph --decorate   # 看历史与分支指向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7" name="rr147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48" name="tb148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show HEAD:index.html &gt; 旧版本.html  # 取出某次提交的文件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9" name="rr149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50" name="tb150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diff HEAD~1 HEAD                    # 对比最近两次提交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1" name="rr151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52" name="tb152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ls-remote origin                    # 远程仓库有哪些分支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3" name="tb153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tb154"/>
          <p:cNvSpPr txBox="1"/>
          <p:nvPr/>
        </p:nvSpPr>
        <p:spPr>
          <a:xfrm>
            <a:off x="1051560" y="3332226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本案例排查显示 bug 时，就用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show HEAD:index.html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取出旧版本，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tb155"/>
          <p:cNvSpPr txBox="1"/>
          <p:nvPr/>
        </p:nvSpPr>
        <p:spPr>
          <a:xfrm>
            <a:off x="1051560" y="3653155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与修改后的版本对比，验证修复是否真的生效。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7" name="tb267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15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c15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57" name="tb157"/>
          <p:cNvSpPr txBox="1"/>
          <p:nvPr/>
        </p:nvSpPr>
        <p:spPr>
          <a:xfrm>
            <a:off x="740410" y="74853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进阶·撤销与回退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b158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做错了的三种</a:t>
            </a: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解决情况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tb159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b160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情况一：改了文件但还没 add</a:t>
            </a:r>
            <a:endParaRPr lang="zh-CN" altLang="en-US" sz="145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tb161"/>
          <p:cNvSpPr txBox="1"/>
          <p:nvPr/>
        </p:nvSpPr>
        <p:spPr>
          <a:xfrm>
            <a:off x="1051560" y="2218563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20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restore 文件名</a:t>
            </a: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丢弃修改，恢复原样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tb162"/>
          <p:cNvSpPr txBox="1"/>
          <p:nvPr/>
        </p:nvSpPr>
        <p:spPr>
          <a:xfrm>
            <a:off x="777240" y="2581021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tb163"/>
          <p:cNvSpPr txBox="1"/>
          <p:nvPr/>
        </p:nvSpPr>
        <p:spPr>
          <a:xfrm>
            <a:off x="1051560" y="2553589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情况二：已经 add 但还没 commit</a:t>
            </a:r>
            <a:endParaRPr lang="zh-CN" altLang="en-US" sz="145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b164"/>
          <p:cNvSpPr txBox="1"/>
          <p:nvPr/>
        </p:nvSpPr>
        <p:spPr>
          <a:xfrm>
            <a:off x="1051560" y="2874518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20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restore --staged 文件名</a:t>
            </a: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移出暂存区，改动仍保留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tb165"/>
          <p:cNvSpPr txBox="1"/>
          <p:nvPr/>
        </p:nvSpPr>
        <p:spPr>
          <a:xfrm>
            <a:off x="777240" y="3236976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b166"/>
          <p:cNvSpPr txBox="1"/>
          <p:nvPr/>
        </p:nvSpPr>
        <p:spPr>
          <a:xfrm>
            <a:off x="1051560" y="3209544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情况三：已经 commit</a:t>
            </a:r>
            <a:endParaRPr lang="zh-CN" altLang="en-US" sz="145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tb167"/>
          <p:cNvSpPr txBox="1"/>
          <p:nvPr/>
        </p:nvSpPr>
        <p:spPr>
          <a:xfrm>
            <a:off x="1051560" y="3530473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还没推送：</a:t>
            </a:r>
            <a:r>
              <a:rPr lang="zh-CN" altLang="en-US" sz="120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reset --soft HEAD~1</a:t>
            </a: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撤销提交但保留改动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b168"/>
          <p:cNvSpPr txBox="1"/>
          <p:nvPr/>
        </p:nvSpPr>
        <p:spPr>
          <a:xfrm>
            <a:off x="1051560" y="3815207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30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已经推送：用 </a:t>
            </a:r>
            <a:r>
              <a:rPr lang="zh-CN" altLang="en-US" sz="120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revert &lt;hash&gt;</a:t>
            </a:r>
            <a:r>
              <a:rPr lang="zh-CN" altLang="en-US" sz="130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生成一次反向提交</a:t>
            </a:r>
            <a:endParaRPr lang="zh-CN" altLang="en-US" sz="1300" b="1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rc169"/>
          <p:cNvSpPr/>
          <p:nvPr/>
        </p:nvSpPr>
        <p:spPr>
          <a:xfrm>
            <a:off x="777240" y="4159377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70" name="tb170"/>
          <p:cNvSpPr txBox="1"/>
          <p:nvPr/>
        </p:nvSpPr>
        <p:spPr>
          <a:xfrm>
            <a:off x="960120" y="4145661"/>
            <a:ext cx="10417759" cy="2981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已推送的提交绝不要用 reset 改写历史，否则会和远程冲突。</a:t>
            </a:r>
            <a:endParaRPr lang="zh-CN" altLang="en-US" sz="1400" b="0" i="0" dirty="0">
              <a:solidFill>
                <a:srgbClr val="63F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tb268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16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c171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72" name="tb172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进阶·分支与 Pull Request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tb173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多人协作或多功能并行时才需要分支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rr174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75" name="tb175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switch -c feature/新功能    # 从当前分支新建并切换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6" name="rr176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77" name="tb177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add -A &amp;&amp; git commit -m "..." # 在新分支上提交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8" name="rr178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79" name="tb179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push -u origin feature/新功能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0" name="tb180"/>
          <p:cNvSpPr txBox="1"/>
          <p:nvPr/>
        </p:nvSpPr>
        <p:spPr>
          <a:xfrm>
            <a:off x="777240" y="3001010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tb181"/>
          <p:cNvSpPr txBox="1"/>
          <p:nvPr/>
        </p:nvSpPr>
        <p:spPr>
          <a:xfrm>
            <a:off x="1051560" y="2973578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推送后到 GitHub 上点 </a:t>
            </a: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Compare &amp; pull request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发起 PR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tb182"/>
          <p:cNvSpPr txBox="1"/>
          <p:nvPr/>
        </p:nvSpPr>
        <p:spPr>
          <a:xfrm>
            <a:off x="1051560" y="3294507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团队成员可以逐行审查、评论、请求修改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tb183"/>
          <p:cNvSpPr txBox="1"/>
          <p:nvPr/>
        </p:nvSpPr>
        <p:spPr>
          <a:xfrm>
            <a:off x="1051560" y="3579241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审查通过后点 Merge，代码才合并进 main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tb184"/>
          <p:cNvSpPr txBox="1"/>
          <p:nvPr/>
        </p:nvSpPr>
        <p:spPr>
          <a:xfrm>
            <a:off x="777240" y="3941699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tb185"/>
          <p:cNvSpPr txBox="1"/>
          <p:nvPr/>
        </p:nvSpPr>
        <p:spPr>
          <a:xfrm>
            <a:off x="1051560" y="3914267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单人小项目可以只用 main 一条分支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（本案例就是如此）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9" name="tb269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17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c18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187" name="tb187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上你能看到什么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tb189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代码、提交历史、README、语言统计都在一个页面里</a:t>
            </a:r>
            <a:endParaRPr lang="zh-CN" altLang="en-US" sz="1300" b="0" i="0" dirty="0">
              <a:solidFill>
                <a:srgbClr val="6C7A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tb270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18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188" name="06_github_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950" y="1371600"/>
            <a:ext cx="7727795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c205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06" name="tb206"/>
          <p:cNvSpPr txBox="1"/>
          <p:nvPr/>
        </p:nvSpPr>
        <p:spPr>
          <a:xfrm>
            <a:off x="73279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项目遇到的</a:t>
            </a: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tb207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</a:t>
            </a: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主要问题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" name="tb208"/>
          <p:cNvSpPr txBox="1"/>
          <p:nvPr>
            <p:custDataLst>
              <p:tags r:id="rId1"/>
            </p:custDataLst>
          </p:nvPr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" name="tb209"/>
          <p:cNvSpPr txBox="1"/>
          <p:nvPr>
            <p:custDataLst>
              <p:tags r:id="rId2"/>
            </p:custDataLst>
          </p:nvPr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没配姓名邮箱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commit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直接报错。先跑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config --global</a:t>
            </a:r>
            <a:endParaRPr lang="zh-CN" altLang="en-US" sz="13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0" name="tb210"/>
          <p:cNvSpPr txBox="1"/>
          <p:nvPr>
            <p:custDataLst>
              <p:tags r:id="rId3"/>
            </p:custDataLst>
          </p:nvPr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tb211"/>
          <p:cNvSpPr txBox="1"/>
          <p:nvPr>
            <p:custDataLst>
              <p:tags r:id="rId4"/>
            </p:custDataLst>
          </p:nvPr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以为 commit 就等于上传了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必须再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 push</a:t>
            </a:r>
            <a:endParaRPr lang="zh-CN" altLang="en-US" sz="13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2" name="tb212"/>
          <p:cNvSpPr txBox="1"/>
          <p:nvPr>
            <p:custDataLst>
              <p:tags r:id="rId5"/>
            </p:custDataLst>
          </p:nvPr>
        </p:nvSpPr>
        <p:spPr>
          <a:xfrm>
            <a:off x="777240" y="266750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" name="tb213"/>
          <p:cNvSpPr txBox="1"/>
          <p:nvPr>
            <p:custDataLst>
              <p:tags r:id="rId6"/>
            </p:custDataLst>
          </p:nvPr>
        </p:nvSpPr>
        <p:spPr>
          <a:xfrm>
            <a:off x="1051560" y="2640076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在网页建仓库时勾了 README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会和本地历史冲突导致推送失败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tb214"/>
          <p:cNvSpPr txBox="1"/>
          <p:nvPr>
            <p:custDataLst>
              <p:tags r:id="rId7"/>
            </p:custDataLst>
          </p:nvPr>
        </p:nvSpPr>
        <p:spPr>
          <a:xfrm>
            <a:off x="777240" y="3038729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tb215"/>
          <p:cNvSpPr txBox="1"/>
          <p:nvPr>
            <p:custDataLst>
              <p:tags r:id="rId8"/>
            </p:custDataLst>
          </p:nvPr>
        </p:nvSpPr>
        <p:spPr>
          <a:xfrm>
            <a:off x="1051560" y="3011297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把密钥写进代码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.gitignore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里先排除 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.env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3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*.key</a:t>
            </a:r>
            <a:endParaRPr lang="zh-CN" altLang="en-US" sz="13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6" name="tb216"/>
          <p:cNvSpPr txBox="1"/>
          <p:nvPr>
            <p:custDataLst>
              <p:tags r:id="rId9"/>
            </p:custDataLst>
          </p:nvPr>
        </p:nvSpPr>
        <p:spPr>
          <a:xfrm>
            <a:off x="777240" y="3409950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" name="tb217"/>
          <p:cNvSpPr txBox="1"/>
          <p:nvPr>
            <p:custDataLst>
              <p:tags r:id="rId10"/>
            </p:custDataLst>
          </p:nvPr>
        </p:nvSpPr>
        <p:spPr>
          <a:xfrm>
            <a:off x="1051560" y="3382518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Token 泄露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导致任何人都能访问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你的GitHub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tb218"/>
          <p:cNvSpPr txBox="1"/>
          <p:nvPr>
            <p:custDataLst>
              <p:tags r:id="rId11"/>
            </p:custDataLst>
          </p:nvPr>
        </p:nvSpPr>
        <p:spPr>
          <a:xfrm>
            <a:off x="777240" y="3781171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9" name="tb219"/>
          <p:cNvSpPr txBox="1"/>
          <p:nvPr>
            <p:custDataLst>
              <p:tags r:id="rId12"/>
            </p:custDataLst>
          </p:nvPr>
        </p:nvSpPr>
        <p:spPr>
          <a:xfrm>
            <a:off x="1051560" y="3753739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提交信息只写「update」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降低代码可读性，提高维护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2" name="tb272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20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c22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21" name="tb221"/>
          <p:cNvSpPr txBox="1"/>
          <p:nvPr/>
        </p:nvSpPr>
        <p:spPr>
          <a:xfrm>
            <a:off x="777240" y="74980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现在就可以开始的六步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tb222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从零到代码上云，六个命令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" name="rr223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24" name="tb224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1.  git init -b main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5" name="rr225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26" name="tb226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2.  git config --global user.name / user.email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7" name="rr227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28" name="tb228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3.  git add -A &amp;&amp; git commit -m "feat: 初始提交"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9" name="rr229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30" name="tb230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4.  在 GitHub 网页新建空仓库（不要勾 README）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1" name="rr231"/>
          <p:cNvSpPr/>
          <p:nvPr/>
        </p:nvSpPr>
        <p:spPr>
          <a:xfrm>
            <a:off x="777240" y="3295650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32" name="tb232"/>
          <p:cNvSpPr txBox="1"/>
          <p:nvPr/>
        </p:nvSpPr>
        <p:spPr>
          <a:xfrm>
            <a:off x="923544" y="3355086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5.  git remote add origin &lt;仓库地址&gt;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3" name="rr233"/>
          <p:cNvSpPr/>
          <p:nvPr/>
        </p:nvSpPr>
        <p:spPr>
          <a:xfrm>
            <a:off x="777240" y="365429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34" name="tb234"/>
          <p:cNvSpPr txBox="1"/>
          <p:nvPr/>
        </p:nvSpPr>
        <p:spPr>
          <a:xfrm>
            <a:off x="923544" y="3713734"/>
            <a:ext cx="10344607" cy="221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6.  git push -u origin main</a:t>
            </a:r>
            <a:endParaRPr lang="zh-CN" altLang="en-US" sz="1250" b="0" i="0" dirty="0">
              <a:solidFill>
                <a:srgbClr val="7FE9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5" name="rc235"/>
          <p:cNvSpPr/>
          <p:nvPr/>
        </p:nvSpPr>
        <p:spPr>
          <a:xfrm>
            <a:off x="777240" y="4058666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36" name="tb236"/>
          <p:cNvSpPr txBox="1"/>
          <p:nvPr/>
        </p:nvSpPr>
        <p:spPr>
          <a:xfrm>
            <a:off x="960120" y="4044950"/>
            <a:ext cx="10417759" cy="2981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之后每改一次：git add -A → git commit -m "..." → git push</a:t>
            </a:r>
            <a:endParaRPr lang="zh-CN" altLang="en-US" sz="1400" b="0" i="0" dirty="0">
              <a:solidFill>
                <a:srgbClr val="63F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3" name="tb273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21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c237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zh-CN"/>
          </a:p>
        </p:txBody>
      </p:sp>
      <p:sp>
        <p:nvSpPr>
          <p:cNvPr id="238" name="tb238"/>
          <p:cNvSpPr txBox="1"/>
          <p:nvPr>
            <p:custDataLst>
              <p:tags r:id="rId1"/>
            </p:custDataLst>
          </p:nvPr>
        </p:nvSpPr>
        <p:spPr>
          <a:xfrm>
            <a:off x="740410" y="72694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小结</a:t>
            </a:r>
            <a:endParaRPr lang="zh-CN" altLang="en-US" sz="2700" b="1" i="0" dirty="0">
              <a:solidFill>
                <a:srgbClr val="9FE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tb239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记住三句话就够了</a:t>
            </a:r>
            <a:endParaRPr lang="zh-CN" altLang="en-US" sz="1700" b="0" i="0" dirty="0">
              <a:solidFill>
                <a:srgbClr val="FFD1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" name="tb240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1" name="tb241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Git 是工具，GitHub 是网站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两者独立，常一起用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tb242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3" name="tb243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三区域 + 五步循环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工作区 → 暂存区 → 本地仓库 → 远程仓库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tb244"/>
          <p:cNvSpPr txBox="1"/>
          <p:nvPr/>
        </p:nvSpPr>
        <p:spPr>
          <a:xfrm>
            <a:off x="777240" y="2667508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5" name="tb245"/>
          <p:cNvSpPr txBox="1"/>
          <p:nvPr/>
        </p:nvSpPr>
        <p:spPr>
          <a:xfrm>
            <a:off x="1051560" y="2640076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commit 是本地的，push 才上云</a:t>
            </a: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这是最容易搞混的一点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6" name="tb246"/>
          <p:cNvSpPr txBox="1"/>
          <p:nvPr/>
        </p:nvSpPr>
        <p:spPr>
          <a:xfrm>
            <a:off x="1051560" y="2961005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7" name="tb247"/>
          <p:cNvSpPr txBox="1"/>
          <p:nvPr/>
        </p:nvSpPr>
        <p:spPr>
          <a:xfrm>
            <a:off x="777240" y="3323463"/>
            <a:ext cx="2194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lang="zh-CN" altLang="en-US" sz="1000" b="0" i="0" dirty="0">
              <a:solidFill>
                <a:srgbClr val="4D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tb248"/>
          <p:cNvSpPr txBox="1"/>
          <p:nvPr/>
        </p:nvSpPr>
        <p:spPr>
          <a:xfrm>
            <a:off x="1051560" y="3296031"/>
            <a:ext cx="10362895" cy="2980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本案例做到了什么：</a:t>
            </a:r>
            <a:endParaRPr lang="zh-CN" altLang="en-US" sz="1450" b="0" i="0" dirty="0">
              <a:solidFill>
                <a:srgbClr val="DC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tb249"/>
          <p:cNvSpPr txBox="1"/>
          <p:nvPr/>
        </p:nvSpPr>
        <p:spPr>
          <a:xfrm>
            <a:off x="1051560" y="3616960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从空文件夹到 11 次结构清晰的提交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tb250"/>
          <p:cNvSpPr txBox="1"/>
          <p:nvPr/>
        </p:nvSpPr>
        <p:spPr>
          <a:xfrm>
            <a:off x="1051560" y="3901694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每次修改单独成一次提交，历史可追溯、可回退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tb251"/>
          <p:cNvSpPr txBox="1"/>
          <p:nvPr/>
        </p:nvSpPr>
        <p:spPr>
          <a:xfrm>
            <a:off x="1051560" y="4186428"/>
            <a:ext cx="10362895" cy="2618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完整的 README 文档与专用诊断工具一并纳入版本控制</a:t>
            </a:r>
            <a:endParaRPr lang="zh-CN" altLang="en-US" sz="1300" b="0" i="0" dirty="0">
              <a:solidFill>
                <a:srgbClr val="93A3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tb27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22</a:t>
            </a:r>
            <a:endParaRPr lang="zh-CN" altLang="en-US" sz="1100" b="0" i="0" dirty="0">
              <a:solidFill>
                <a:srgbClr val="6C7A99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2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3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4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5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6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7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8.xml><?xml version="1.0" encoding="utf-8"?>
<p:tagLst xmlns:p="http://schemas.openxmlformats.org/presentationml/2006/main">
  <p:tag name="KSO_WM_DIAGRAM_VIRTUALLY_FRAME" val="{&quot;height&quot;:105.74999999999997,&quot;left&quot;:61.2,&quot;top&quot;:149.42000000000002,&quot;width&quot;:448.77598425196845}"/>
</p:tagLst>
</file>

<file path=ppt/tags/tag9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0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1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2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3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4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5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6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7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8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19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20.xml><?xml version="1.0" encoding="utf-8"?>
<p:tagLst xmlns:p="http://schemas.openxmlformats.org/presentationml/2006/main">
  <p:tag name="KSO_WM_DIAGRAM_VIRTUALLY_FRAME" val="{&quot;height&quot;:169.61999999999995,&quot;left&quot;:61.2,&quot;top&quot;:149.42000000000002,&quot;width&quot;:837.5759842519685}"/>
</p:tagLst>
</file>

<file path=ppt/tags/tag21.xml><?xml version="1.0" encoding="utf-8"?>
<p:tagLst xmlns:p="http://schemas.openxmlformats.org/presentationml/2006/main">
  <p:tag name="KSO_WM_UNIT_INDEX" val="1"/>
  <p:tag name="KSO_WM_UNIT_TYPE" val="a"/>
  <p:tag name="KSO_WM_BEAUTIFY_FLAG" val="#wm#"/>
  <p:tag name="SlideZOrder" val="2"/>
</p:tagLst>
</file>

<file path=ppt/theme/theme1.xml><?xml version="1.0" encoding="utf-8"?>
<a:theme xmlns:a="http://schemas.openxmlformats.org/drawingml/2006/main" name="GitTutorial">
  <a:themeElements>
    <a:clrScheme name="GitTutorial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GitTutorial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Git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3322</Words>
  <Application>WPS 演示</Application>
  <PresentationFormat>宽屏</PresentationFormat>
  <Paragraphs>353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</vt:lpstr>
      <vt:lpstr>Consolas</vt:lpstr>
      <vt:lpstr>Arial Unicode MS</vt:lpstr>
      <vt:lpstr>Calibri</vt:lpstr>
      <vt:lpstr>GitTutorial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与 GitHub 从入门到实战</dc:title>
  <dc:creator>rrafiya</dc:creator>
  <cp:lastModifiedBy>Amadeus</cp:lastModifiedBy>
  <cp:revision>7</cp:revision>
  <dcterms:created xsi:type="dcterms:W3CDTF">2026-09-19T11:13:00Z</dcterms:created>
  <dcterms:modified xsi:type="dcterms:W3CDTF">2026-09-20T11:59:32Z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8448BF930EA341EDBFD1CA07D538AED6_13</vt:lpwstr>
  </property>
</Properties>
</file>