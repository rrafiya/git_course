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 showNarration="0" loop="0">
    <p:present/>
    <p:sldAll/>
    <p:penClr>
      <a:srgbClr val="FF0000"/>
    </p:penClr>
  </p:showPr>
  <p:clrMru>
    <a:srgbClr val="4DD4FF"/>
    <a:srgbClr val="9FE8FF"/>
    <a:srgbClr val="FFD166"/>
    <a:srgbClr val="0B1020"/>
    <a:srgbClr val="FFFFFF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0" snapToObjects="1">
      <p:cViewPr varScale="1" zoomScale="100">
        <p:scale>
          <a:sx n="100" d="100"/>
          <a:sy n="100" d="100"/>
        </p:scale>
        <p:origin x="0" y="0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900" Type="http://schemas.openxmlformats.org/officeDocument/2006/relationships/presProps" Target="presProps.xml"/><Relationship Id="rId901" Type="http://schemas.openxmlformats.org/officeDocument/2006/relationships/viewProps" Target="viewProps.xml"/><Relationship Id="rId90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700" b="1">
          <a:solidFill>
            <a:srgbClr val="9FE8FF"/>
          </a:solidFill>
          <a:latin typeface="Microsoft YaHei"/>
          <a:ea typeface="Microsoft YaHei"/>
        </a:defRPr>
      </a:lvl1pPr>
    </p:titleStyle>
    <p:bodyStyle>
      <a:lvl1pPr algn="l">
        <a:defRPr sz="1400">
          <a:solidFill>
            <a:srgbClr val="DCE6FA"/>
          </a:solidFill>
          <a:latin typeface="Microsoft YaHei"/>
          <a:ea typeface="Microsoft YaHei"/>
        </a:defRPr>
      </a:lvl1pPr>
    </p:bodyStyle>
    <p:otherStyle>
      <a:lvl1pPr algn="l">
        <a:defRPr sz="1400">
          <a:solidFill>
            <a:srgbClr val="DCE6FA"/>
          </a:solidFill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2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3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5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6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7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8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Img10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r2"/>
          <p:cNvSpPr/>
          <p:nvPr/>
        </p:nvSpPr>
        <p:spPr>
          <a:xfrm rot="1080000">
            <a:off x="-1828800" y="-1463040"/>
            <a:ext cx="7863840" cy="10241280"/>
          </a:xfrm>
          <a:prstGeom prst="roundRect">
            <a:avLst>
              <a:gd name="adj" fmla="val 12000"/>
            </a:avLst>
          </a:prstGeom>
          <a:solidFill>
            <a:srgbClr val="12325A">
              <a:alpha val="45000"/>
            </a:srgbClr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3" name="rr3"/>
          <p:cNvSpPr/>
          <p:nvPr/>
        </p:nvSpPr>
        <p:spPr>
          <a:xfrm rot="-840000">
            <a:off x="6949440" y="2011680"/>
            <a:ext cx="7680960" cy="8229600"/>
          </a:xfrm>
          <a:prstGeom prst="roundRect">
            <a:avLst>
              <a:gd name="adj" fmla="val 12000"/>
            </a:avLst>
          </a:prstGeom>
          <a:solidFill>
            <a:srgbClr val="3A1A2C">
              <a:alpha val="55000"/>
            </a:srgbClr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4" name="rc4"/>
          <p:cNvSpPr/>
          <p:nvPr/>
        </p:nvSpPr>
        <p:spPr>
          <a:xfrm>
            <a:off x="914400" y="1847088"/>
            <a:ext cx="1371600" cy="68580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5" name="tb5"/>
          <p:cNvSpPr txBox="1"/>
          <p:nvPr/>
        </p:nvSpPr>
        <p:spPr>
          <a:xfrm>
            <a:off x="914400" y="202996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40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Git 与 GitHub 从入门到实战</a:t>
            </a:r>
          </a:p>
        </p:txBody>
      </p:sp>
      <p:sp>
        <p:nvSpPr>
          <p:cNvPr id="6" name="tb6"/>
          <p:cNvSpPr txBox="1"/>
          <p:nvPr/>
        </p:nvSpPr>
        <p:spPr>
          <a:xfrm>
            <a:off x="914400" y="31089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90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以「雷霆战机」小游戏项目为完整案例</a:t>
            </a:r>
          </a:p>
        </p:txBody>
      </p:sp>
      <p:sp>
        <p:nvSpPr>
          <p:cNvPr id="7" name="tb7"/>
          <p:cNvSpPr txBox="1"/>
          <p:nvPr/>
        </p:nvSpPr>
        <p:spPr>
          <a:xfrm>
            <a:off x="914400" y="3950208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从空文件夹 → 11 次提交 → 完整上线的全过程</a:t>
            </a:r>
          </a:p>
        </p:txBody>
      </p:sp>
      <p:sp>
        <p:nvSpPr>
          <p:cNvPr id="8" name="tb8"/>
          <p:cNvSpPr txBox="1"/>
          <p:nvPr/>
        </p:nvSpPr>
        <p:spPr>
          <a:xfrm>
            <a:off x="914400" y="4334256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包含真实截图、命令输出与踩坑记录</a:t>
            </a:r>
          </a:p>
        </p:txBody>
      </p:sp>
      <p:sp>
        <p:nvSpPr>
          <p:cNvPr id="9" name="tb9"/>
          <p:cNvSpPr txBox="1"/>
          <p:nvPr/>
        </p:nvSpPr>
        <p:spPr>
          <a:xfrm>
            <a:off x="914400" y="4718304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仓库地址：github.com/rrafiya/git_course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c1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1" name="tb11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12" name="rr12"/>
          <p:cNvSpPr/>
          <p:nvPr/>
        </p:nvSpPr>
        <p:spPr>
          <a:xfrm>
            <a:off x="777240" y="1371600"/>
            <a:ext cx="10637215" cy="4983480"/>
          </a:xfrm>
          <a:prstGeom prst="roundRect">
            <a:avLst>
              <a:gd name="adj" fmla="val 3000"/>
            </a:avLst>
          </a:prstGeom>
          <a:solidFill>
            <a:srgbClr val="111A2C"/>
          </a:solidFill>
          <a:ln w="9525">
            <a:solidFill>
              <a:srgbClr val="23304A"/>
            </a:solidFill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3" name="tb13"/>
          <p:cNvSpPr txBox="1"/>
          <p:nvPr/>
        </p:nvSpPr>
        <p:spPr>
          <a:xfrm>
            <a:off x="1234440" y="1700784"/>
            <a:ext cx="9722815" cy="43434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一、先分清 Git 和 GitHub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二、核心概念：三个区域与 push / pull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三、日常开发五步循环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四、完整实战：从空文件夹到上线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五、进阶用法：提交规范、排查、分支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六、GitHub 能做什么</a:t>
            </a:r>
          </a:p>
          <a:p>
            <a:pPr algn="l" marL="228600" indent="-22860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4DD4FF"/>
              </a:buClr>
              <a:buFont typeface="Arial"/>
              <a:buChar char="◆"/>
            </a:pPr>
            <a:r>
              <a:rPr lang="zh-CN" altLang="en-US" sz="190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七、避坑指南与速查表</a:t>
            </a:r>
          </a:p>
        </p:txBody>
      </p:sp>
      <p:sp>
        <p:nvSpPr>
          <p:cNvPr id="254" name="tb254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c14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5" name="tb15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先看本次案例是什么</a:t>
            </a:r>
          </a:p>
        </p:txBody>
      </p:sp>
      <p:sp>
        <p:nvSpPr>
          <p:cNvPr id="17" name="tb17"/>
          <p:cNvSpPr txBox="1"/>
          <p:nvPr/>
        </p:nvSpPr>
        <p:spPr>
          <a:xfrm>
            <a:off x="777240" y="1472184"/>
            <a:ext cx="569945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一个用原生 HTML5 Canvas 写的竖版飞行射击小游戏</a:t>
            </a:r>
          </a:p>
        </p:txBody>
      </p:sp>
      <p:sp>
        <p:nvSpPr>
          <p:cNvPr id="18" name="tb18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9" name="tb19"/>
          <p:cNvSpPr txBox="1"/>
          <p:nvPr/>
        </p:nvSpPr>
        <p:spPr>
          <a:xfrm>
            <a:off x="1051560" y="1897634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单文件、零依赖，双击 index.html 就能玩</a:t>
            </a:r>
          </a:p>
        </p:txBody>
      </p:sp>
      <p:sp>
        <p:nvSpPr>
          <p:cNvPr id="20" name="tb20"/>
          <p:cNvSpPr txBox="1"/>
          <p:nvPr/>
        </p:nvSpPr>
        <p:spPr>
          <a:xfrm>
            <a:off x="777240" y="2278253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1" name="tb21"/>
          <p:cNvSpPr txBox="1"/>
          <p:nvPr/>
        </p:nvSpPr>
        <p:spPr>
          <a:xfrm>
            <a:off x="1051560" y="2250821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配套一个 diagnose.html 用于排查显示问题</a:t>
            </a:r>
          </a:p>
        </p:txBody>
      </p:sp>
      <p:sp>
        <p:nvSpPr>
          <p:cNvPr id="22" name="tb22"/>
          <p:cNvSpPr txBox="1"/>
          <p:nvPr/>
        </p:nvSpPr>
        <p:spPr>
          <a:xfrm>
            <a:off x="777240" y="263144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3" name="tb23"/>
          <p:cNvSpPr txBox="1"/>
          <p:nvPr/>
        </p:nvSpPr>
        <p:spPr>
          <a:xfrm>
            <a:off x="1051560" y="2604008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整个开发过程</a:t>
            </a: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每一步都做了版本控制</a:t>
            </a:r>
          </a:p>
        </p:txBody>
      </p:sp>
      <p:sp>
        <p:nvSpPr>
          <p:cNvPr id="24" name="tb24"/>
          <p:cNvSpPr txBox="1"/>
          <p:nvPr/>
        </p:nvSpPr>
        <p:spPr>
          <a:xfrm>
            <a:off x="777240" y="298462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5" name="tb25"/>
          <p:cNvSpPr txBox="1"/>
          <p:nvPr/>
        </p:nvSpPr>
        <p:spPr>
          <a:xfrm>
            <a:off x="1051560" y="2957195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从空文件夹开始，共 11 次提交，全部推送到 GitHub</a:t>
            </a:r>
          </a:p>
        </p:txBody>
      </p:sp>
      <p:sp>
        <p:nvSpPr>
          <p:cNvPr id="26" name="rc26"/>
          <p:cNvSpPr/>
          <p:nvPr/>
        </p:nvSpPr>
        <p:spPr>
          <a:xfrm>
            <a:off x="777240" y="3319526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7" name="tb27"/>
          <p:cNvSpPr txBox="1"/>
          <p:nvPr/>
        </p:nvSpPr>
        <p:spPr>
          <a:xfrm>
            <a:off x="960120" y="3305810"/>
            <a:ext cx="547999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本 PPT 的所有截图与命令输出，都来自这个真实仓库。</a:t>
            </a:r>
          </a:p>
        </p:txBody>
      </p:sp>
      <p:sp>
        <p:nvSpPr>
          <p:cNvPr id="255" name="tb255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3</a:t>
            </a:r>
          </a:p>
        </p:txBody>
      </p:sp>
      <p:pic>
        <p:nvPicPr>
          <p:cNvPr id="16" name="10_game_playing.png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7259650" y="1371600"/>
            <a:ext cx="3737610" cy="49834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c28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9" name="tb29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Git 与 GitHub 不是一回事</a:t>
            </a:r>
          </a:p>
        </p:txBody>
      </p:sp>
      <p:sp>
        <p:nvSpPr>
          <p:cNvPr id="31" name="tb31"/>
          <p:cNvSpPr txBox="1"/>
          <p:nvPr/>
        </p:nvSpPr>
        <p:spPr>
          <a:xfrm>
            <a:off x="777240" y="1472184"/>
            <a:ext cx="569945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这是初学者最容易混淆的一点</a:t>
            </a:r>
          </a:p>
        </p:txBody>
      </p:sp>
      <p:sp>
        <p:nvSpPr>
          <p:cNvPr id="32" name="tb32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33" name="tb33"/>
          <p:cNvSpPr txBox="1"/>
          <p:nvPr/>
        </p:nvSpPr>
        <p:spPr>
          <a:xfrm>
            <a:off x="1051560" y="1897634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Git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= 版本控制</a:t>
            </a: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工具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，装在你电脑上，负责记录改动</a:t>
            </a:r>
          </a:p>
        </p:txBody>
      </p:sp>
      <p:sp>
        <p:nvSpPr>
          <p:cNvPr id="34" name="tb34"/>
          <p:cNvSpPr txBox="1"/>
          <p:nvPr/>
        </p:nvSpPr>
        <p:spPr>
          <a:xfrm>
            <a:off x="777240" y="2278253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35" name="tb35"/>
          <p:cNvSpPr txBox="1"/>
          <p:nvPr/>
        </p:nvSpPr>
        <p:spPr>
          <a:xfrm>
            <a:off x="1051560" y="2250821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GitHub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= 代码托管</a:t>
            </a: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网站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，跑在云端，负责存储与协作</a:t>
            </a:r>
          </a:p>
        </p:txBody>
      </p:sp>
      <p:sp>
        <p:nvSpPr>
          <p:cNvPr id="36" name="tb36"/>
          <p:cNvSpPr txBox="1"/>
          <p:nvPr/>
        </p:nvSpPr>
        <p:spPr>
          <a:xfrm>
            <a:off x="777240" y="263144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37" name="tb37"/>
          <p:cNvSpPr txBox="1"/>
          <p:nvPr/>
        </p:nvSpPr>
        <p:spPr>
          <a:xfrm>
            <a:off x="1051560" y="2604008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你完全可以只用 Git 不用 GitHub —— 版本照样记录</a:t>
            </a:r>
          </a:p>
        </p:txBody>
      </p:sp>
      <p:sp>
        <p:nvSpPr>
          <p:cNvPr id="38" name="tb38"/>
          <p:cNvSpPr txBox="1"/>
          <p:nvPr/>
        </p:nvSpPr>
        <p:spPr>
          <a:xfrm>
            <a:off x="777240" y="298462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39" name="tb39"/>
          <p:cNvSpPr txBox="1"/>
          <p:nvPr/>
        </p:nvSpPr>
        <p:spPr>
          <a:xfrm>
            <a:off x="1051560" y="2957195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也可以把仓库托管到 GitLab、Gitee 等其它平台</a:t>
            </a:r>
          </a:p>
        </p:txBody>
      </p:sp>
      <p:sp>
        <p:nvSpPr>
          <p:cNvPr id="40" name="rc40"/>
          <p:cNvSpPr/>
          <p:nvPr/>
        </p:nvSpPr>
        <p:spPr>
          <a:xfrm>
            <a:off x="777240" y="3319526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41" name="tb41"/>
          <p:cNvSpPr txBox="1"/>
          <p:nvPr/>
        </p:nvSpPr>
        <p:spPr>
          <a:xfrm>
            <a:off x="960120" y="3305810"/>
            <a:ext cx="547999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一句话：Git 是工具，GitHub 是网站。</a:t>
            </a:r>
          </a:p>
        </p:txBody>
      </p:sp>
      <p:sp>
        <p:nvSpPr>
          <p:cNvPr id="256" name="tb256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4</a:t>
            </a:r>
          </a:p>
        </p:txBody>
      </p:sp>
      <p:pic>
        <p:nvPicPr>
          <p:cNvPr id="30" name="08_git_vs_github.png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6842455" y="2622369"/>
            <a:ext cx="4572000" cy="2481943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c4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43" name="tb43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核心概念①：Git 的三个区域</a:t>
            </a:r>
          </a:p>
        </p:txBody>
      </p:sp>
      <p:sp>
        <p:nvSpPr>
          <p:cNvPr id="45" name="tb45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Microsoft YaHei"/>
                <a:ea typeface="Microsoft YaHei"/>
                <a:cs typeface="Microsoft YaHei"/>
              </a:rPr>
              <a:t>文件从「改好」到「被记录」要经过三个区域</a:t>
            </a:r>
          </a:p>
        </p:txBody>
      </p:sp>
      <p:sp>
        <p:nvSpPr>
          <p:cNvPr id="257" name="tb257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5</a:t>
            </a:r>
          </a:p>
        </p:txBody>
      </p:sp>
      <p:pic>
        <p:nvPicPr>
          <p:cNvPr id="44" name="02_three_areas.png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1926905" y="1371600"/>
            <a:ext cx="8337884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c4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47" name="tb47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核心概念②：本地仓库 ↔ 远程仓库</a:t>
            </a:r>
          </a:p>
        </p:txBody>
      </p:sp>
      <p:sp>
        <p:nvSpPr>
          <p:cNvPr id="49" name="tb49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Microsoft YaHei"/>
                <a:ea typeface="Microsoft YaHei"/>
                <a:cs typeface="Microsoft YaHei"/>
              </a:rPr>
              <a:t>Git 是分布式的：本地有完整历史，GitHub 只是另一个副本</a:t>
            </a:r>
          </a:p>
        </p:txBody>
      </p:sp>
      <p:sp>
        <p:nvSpPr>
          <p:cNvPr id="258" name="tb258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6</a:t>
            </a:r>
          </a:p>
        </p:txBody>
      </p:sp>
      <p:pic>
        <p:nvPicPr>
          <p:cNvPr id="48" name="03_push_pull.png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1814231" y="1371600"/>
            <a:ext cx="8563232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c5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51" name="tb51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核心概念③：日常开发的完整循环</a:t>
            </a:r>
          </a:p>
        </p:txBody>
      </p:sp>
      <p:sp>
        <p:nvSpPr>
          <p:cNvPr id="53" name="tb53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Microsoft YaHei"/>
                <a:ea typeface="Microsoft YaHei"/>
                <a:cs typeface="Microsoft YaHei"/>
              </a:rPr>
              <a:t>改代码 → 看状态 → 加暂存 → 提交 → 推送</a:t>
            </a:r>
          </a:p>
        </p:txBody>
      </p:sp>
      <p:sp>
        <p:nvSpPr>
          <p:cNvPr id="259" name="tb259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7</a:t>
            </a:r>
          </a:p>
        </p:txBody>
      </p:sp>
      <p:pic>
        <p:nvPicPr>
          <p:cNvPr id="52" name="05_workflow.png"/>
          <p:cNvPicPr>
            <a:picLocks noChangeAspect="1"/>
          </p:cNvPicPr>
          <p:nvPr/>
        </p:nvPicPr>
        <p:blipFill>
          <a:blip r:embed="rIdImg5"/>
          <a:stretch>
            <a:fillRect/>
          </a:stretch>
        </p:blipFill>
        <p:spPr>
          <a:xfrm>
            <a:off x="2033801" y="1371600"/>
            <a:ext cx="8124092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rc54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55" name="tb55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Git 常用命令速查表</a:t>
            </a:r>
          </a:p>
        </p:txBody>
      </p:sp>
      <p:sp>
        <p:nvSpPr>
          <p:cNvPr id="57" name="tb57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Microsoft YaHei"/>
                <a:ea typeface="Microsoft YaHei"/>
                <a:cs typeface="Microsoft YaHei"/>
              </a:rPr>
              <a:t>标 ✓ 的命令都是本案例实际用到的</a:t>
            </a:r>
          </a:p>
        </p:txBody>
      </p:sp>
      <p:sp>
        <p:nvSpPr>
          <p:cNvPr id="260" name="tb260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8</a:t>
            </a:r>
          </a:p>
        </p:txBody>
      </p:sp>
      <p:pic>
        <p:nvPicPr>
          <p:cNvPr id="56" name="07_cheatsheet.png"/>
          <p:cNvPicPr>
            <a:picLocks noChangeAspect="1"/>
          </p:cNvPicPr>
          <p:nvPr/>
        </p:nvPicPr>
        <p:blipFill>
          <a:blip r:embed="rIdImg6"/>
          <a:stretch>
            <a:fillRect/>
          </a:stretch>
        </p:blipFill>
        <p:spPr>
          <a:xfrm>
            <a:off x="2725214" y="1371600"/>
            <a:ext cx="6741268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c58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59" name="tb59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实战·第 0 步：初始化与关联远程</a:t>
            </a:r>
          </a:p>
        </p:txBody>
      </p:sp>
      <p:sp>
        <p:nvSpPr>
          <p:cNvPr id="60" name="tb60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在一个空文件夹里开始</a:t>
            </a:r>
          </a:p>
        </p:txBody>
      </p:sp>
      <p:sp>
        <p:nvSpPr>
          <p:cNvPr id="61" name="rr61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62" name="tb62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cd C:\Users\Amadeus\Documents\git</a:t>
            </a:r>
          </a:p>
        </p:txBody>
      </p:sp>
      <p:sp>
        <p:nvSpPr>
          <p:cNvPr id="63" name="rr63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64" name="tb64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init -b main</a:t>
            </a:r>
          </a:p>
        </p:txBody>
      </p:sp>
      <p:sp>
        <p:nvSpPr>
          <p:cNvPr id="65" name="rr65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66" name="tb66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config --global user.name  "你的名字"</a:t>
            </a:r>
          </a:p>
        </p:txBody>
      </p:sp>
      <p:sp>
        <p:nvSpPr>
          <p:cNvPr id="67" name="rr67"/>
          <p:cNvSpPr/>
          <p:nvPr/>
        </p:nvSpPr>
        <p:spPr>
          <a:xfrm>
            <a:off x="777240" y="2937002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68" name="tb68"/>
          <p:cNvSpPr txBox="1"/>
          <p:nvPr/>
        </p:nvSpPr>
        <p:spPr>
          <a:xfrm>
            <a:off x="923544" y="2996438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config --global user.email "你的邮箱"</a:t>
            </a:r>
          </a:p>
        </p:txBody>
      </p:sp>
      <p:sp>
        <p:nvSpPr>
          <p:cNvPr id="69" name="tb69"/>
          <p:cNvSpPr txBox="1"/>
          <p:nvPr/>
        </p:nvSpPr>
        <p:spPr>
          <a:xfrm>
            <a:off x="777240" y="335965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70" name="tb70"/>
          <p:cNvSpPr txBox="1"/>
          <p:nvPr/>
        </p:nvSpPr>
        <p:spPr>
          <a:xfrm>
            <a:off x="1051560" y="3332226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init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会在当前目录创建隐藏的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.git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文件夹 —— 它就是版本库本体</a:t>
            </a:r>
          </a:p>
        </p:txBody>
      </p:sp>
      <p:sp>
        <p:nvSpPr>
          <p:cNvPr id="71" name="tb71"/>
          <p:cNvSpPr txBox="1"/>
          <p:nvPr/>
        </p:nvSpPr>
        <p:spPr>
          <a:xfrm>
            <a:off x="777240" y="3730879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72" name="tb72"/>
          <p:cNvSpPr txBox="1"/>
          <p:nvPr/>
        </p:nvSpPr>
        <p:spPr>
          <a:xfrm>
            <a:off x="1051560" y="3703447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不配置姓名邮箱，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commit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会直接报错</a:t>
            </a: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（本案例一开始就是空配置，提交时才补上）</a:t>
            </a:r>
          </a:p>
        </p:txBody>
      </p:sp>
      <p:sp>
        <p:nvSpPr>
          <p:cNvPr id="73" name="tb73"/>
          <p:cNvSpPr txBox="1"/>
          <p:nvPr/>
        </p:nvSpPr>
        <p:spPr>
          <a:xfrm>
            <a:off x="777240" y="410210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74" name="tb74"/>
          <p:cNvSpPr txBox="1"/>
          <p:nvPr/>
        </p:nvSpPr>
        <p:spPr>
          <a:xfrm>
            <a:off x="1051560" y="4074668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-b main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指定主分支名为 main（GitHub 的默认约定）</a:t>
            </a:r>
          </a:p>
        </p:txBody>
      </p:sp>
      <p:sp>
        <p:nvSpPr>
          <p:cNvPr id="261" name="tb261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c75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76" name="tb76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实战·第 1 步：首次提交并推送到 GitHub</a:t>
            </a:r>
          </a:p>
        </p:txBody>
      </p:sp>
      <p:sp>
        <p:nvSpPr>
          <p:cNvPr id="77" name="tb77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先 commit（存到本地），再 push（传到云端）</a:t>
            </a:r>
          </a:p>
        </p:txBody>
      </p:sp>
      <p:sp>
        <p:nvSpPr>
          <p:cNvPr id="78" name="rr78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79" name="tb79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add -A                       # 把所有改动加入暂存区</a:t>
            </a:r>
          </a:p>
        </p:txBody>
      </p:sp>
      <p:sp>
        <p:nvSpPr>
          <p:cNvPr id="80" name="rr80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81" name="tb81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commit -m "chore: initial commit"</a:t>
            </a:r>
          </a:p>
        </p:txBody>
      </p:sp>
      <p:sp>
        <p:nvSpPr>
          <p:cNvPr id="82" name="rr82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83" name="tb83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remote add origin https://github.com/用户名/仓库名.git</a:t>
            </a:r>
          </a:p>
        </p:txBody>
      </p:sp>
      <p:sp>
        <p:nvSpPr>
          <p:cNvPr id="84" name="rr84"/>
          <p:cNvSpPr/>
          <p:nvPr/>
        </p:nvSpPr>
        <p:spPr>
          <a:xfrm>
            <a:off x="777240" y="2937002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85" name="tb85"/>
          <p:cNvSpPr txBox="1"/>
          <p:nvPr/>
        </p:nvSpPr>
        <p:spPr>
          <a:xfrm>
            <a:off x="923544" y="2996438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push -u origin main          # 首次推送，-u 建立跟踪关系</a:t>
            </a:r>
          </a:p>
        </p:txBody>
      </p:sp>
      <p:sp>
        <p:nvSpPr>
          <p:cNvPr id="86" name="tb86"/>
          <p:cNvSpPr txBox="1"/>
          <p:nvPr/>
        </p:nvSpPr>
        <p:spPr>
          <a:xfrm>
            <a:off x="777240" y="335965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87" name="tb87"/>
          <p:cNvSpPr txBox="1"/>
          <p:nvPr/>
        </p:nvSpPr>
        <p:spPr>
          <a:xfrm>
            <a:off x="1051560" y="3332226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两次推送之后就只需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push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，Git 已记住推到哪里</a:t>
            </a:r>
          </a:p>
        </p:txBody>
      </p:sp>
      <p:sp>
        <p:nvSpPr>
          <p:cNvPr id="88" name="tb88"/>
          <p:cNvSpPr txBox="1"/>
          <p:nvPr/>
        </p:nvSpPr>
        <p:spPr>
          <a:xfrm>
            <a:off x="777240" y="3730879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89" name="tb89"/>
          <p:cNvSpPr txBox="1"/>
          <p:nvPr/>
        </p:nvSpPr>
        <p:spPr>
          <a:xfrm>
            <a:off x="1051560" y="3703447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重要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commit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之后 GitHub 上还看不到，必须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push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才同步</a:t>
            </a:r>
          </a:p>
        </p:txBody>
      </p:sp>
      <p:sp>
        <p:nvSpPr>
          <p:cNvPr id="90" name="rc90"/>
          <p:cNvSpPr/>
          <p:nvPr/>
        </p:nvSpPr>
        <p:spPr>
          <a:xfrm>
            <a:off x="777240" y="4083812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91" name="tb91"/>
          <p:cNvSpPr txBox="1"/>
          <p:nvPr/>
        </p:nvSpPr>
        <p:spPr>
          <a:xfrm>
            <a:off x="960120" y="4070096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本案例第 1 次提交 1902551：只包含 .gitignore 和 README.md 两个文件。</a:t>
            </a:r>
          </a:p>
        </p:txBody>
      </p:sp>
      <p:sp>
        <p:nvSpPr>
          <p:cNvPr id="262" name="tb262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c9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93" name="tb93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实战·日常循环：改完就提交</a:t>
            </a:r>
          </a:p>
        </p:txBody>
      </p:sp>
      <p:sp>
        <p:nvSpPr>
          <p:cNvPr id="95" name="tb95"/>
          <p:cNvSpPr txBox="1"/>
          <p:nvPr/>
        </p:nvSpPr>
        <p:spPr>
          <a:xfrm>
            <a:off x="777240" y="1472184"/>
            <a:ext cx="569945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每次修改都遵循同一套动作</a:t>
            </a:r>
          </a:p>
        </p:txBody>
      </p:sp>
      <p:sp>
        <p:nvSpPr>
          <p:cNvPr id="96" name="rr96"/>
          <p:cNvSpPr/>
          <p:nvPr/>
        </p:nvSpPr>
        <p:spPr>
          <a:xfrm>
            <a:off x="777240" y="1861058"/>
            <a:ext cx="569945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97" name="tb97"/>
          <p:cNvSpPr txBox="1"/>
          <p:nvPr/>
        </p:nvSpPr>
        <p:spPr>
          <a:xfrm>
            <a:off x="923544" y="1920494"/>
            <a:ext cx="540684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status          # 改了哪些文件</a:t>
            </a:r>
          </a:p>
        </p:txBody>
      </p:sp>
      <p:sp>
        <p:nvSpPr>
          <p:cNvPr id="98" name="rr98"/>
          <p:cNvSpPr/>
          <p:nvPr/>
        </p:nvSpPr>
        <p:spPr>
          <a:xfrm>
            <a:off x="777240" y="2219706"/>
            <a:ext cx="569945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99" name="tb99"/>
          <p:cNvSpPr txBox="1"/>
          <p:nvPr/>
        </p:nvSpPr>
        <p:spPr>
          <a:xfrm>
            <a:off x="923544" y="2279142"/>
            <a:ext cx="540684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add -A          # 加入暂存区</a:t>
            </a:r>
          </a:p>
        </p:txBody>
      </p:sp>
      <p:sp>
        <p:nvSpPr>
          <p:cNvPr id="100" name="rr100"/>
          <p:cNvSpPr/>
          <p:nvPr/>
        </p:nvSpPr>
        <p:spPr>
          <a:xfrm>
            <a:off x="777240" y="2578354"/>
            <a:ext cx="569945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01" name="tb101"/>
          <p:cNvSpPr txBox="1"/>
          <p:nvPr/>
        </p:nvSpPr>
        <p:spPr>
          <a:xfrm>
            <a:off x="923544" y="2637790"/>
            <a:ext cx="540684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commit -m "..." # 提交</a:t>
            </a:r>
          </a:p>
        </p:txBody>
      </p:sp>
      <p:sp>
        <p:nvSpPr>
          <p:cNvPr id="102" name="rr102"/>
          <p:cNvSpPr/>
          <p:nvPr/>
        </p:nvSpPr>
        <p:spPr>
          <a:xfrm>
            <a:off x="777240" y="2937002"/>
            <a:ext cx="569945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03" name="tb103"/>
          <p:cNvSpPr txBox="1"/>
          <p:nvPr/>
        </p:nvSpPr>
        <p:spPr>
          <a:xfrm>
            <a:off x="923544" y="2996438"/>
            <a:ext cx="540684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push            # 推送到 GitHub</a:t>
            </a:r>
          </a:p>
        </p:txBody>
      </p:sp>
      <p:sp>
        <p:nvSpPr>
          <p:cNvPr id="104" name="tb104"/>
          <p:cNvSpPr txBox="1"/>
          <p:nvPr/>
        </p:nvSpPr>
        <p:spPr>
          <a:xfrm>
            <a:off x="777240" y="335965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05" name="tb105"/>
          <p:cNvSpPr txBox="1"/>
          <p:nvPr/>
        </p:nvSpPr>
        <p:spPr>
          <a:xfrm>
            <a:off x="1051560" y="3332226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动手前先 </a:t>
            </a: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status</a:t>
            </a: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 是最有效的防误提交习惯</a:t>
            </a:r>
          </a:p>
        </p:txBody>
      </p:sp>
      <p:sp>
        <p:nvSpPr>
          <p:cNvPr id="263" name="tb263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11</a:t>
            </a:r>
          </a:p>
        </p:txBody>
      </p:sp>
      <p:pic>
        <p:nvPicPr>
          <p:cNvPr id="94" name="01_terminal.png"/>
          <p:cNvPicPr>
            <a:picLocks noChangeAspect="1"/>
          </p:cNvPicPr>
          <p:nvPr/>
        </p:nvPicPr>
        <p:blipFill>
          <a:blip r:embed="rIdImg7"/>
          <a:stretch>
            <a:fillRect/>
          </a:stretch>
        </p:blipFill>
        <p:spPr>
          <a:xfrm>
            <a:off x="6842455" y="2584730"/>
            <a:ext cx="4572000" cy="25572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c10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07" name="tb107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实战·本案例的 11 次提交</a:t>
            </a:r>
          </a:p>
        </p:txBody>
      </p:sp>
      <p:sp>
        <p:nvSpPr>
          <p:cNvPr id="109" name="tb109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Microsoft YaHei"/>
                <a:ea typeface="Microsoft YaHei"/>
                <a:cs typeface="Microsoft YaHei"/>
              </a:rPr>
              <a:t>每次修改都是独立一次提交，历史清晰可追溯</a:t>
            </a:r>
          </a:p>
        </p:txBody>
      </p:sp>
      <p:sp>
        <p:nvSpPr>
          <p:cNvPr id="264" name="tb264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12</a:t>
            </a:r>
          </a:p>
        </p:txBody>
      </p:sp>
      <p:pic>
        <p:nvPicPr>
          <p:cNvPr id="108" name="04_timeline.png"/>
          <p:cNvPicPr>
            <a:picLocks noChangeAspect="1"/>
          </p:cNvPicPr>
          <p:nvPr/>
        </p:nvPicPr>
        <p:blipFill>
          <a:blip r:embed="rIdImg8"/>
          <a:stretch>
            <a:fillRect/>
          </a:stretch>
        </p:blipFill>
        <p:spPr>
          <a:xfrm>
            <a:off x="2575408" y="1371600"/>
            <a:ext cx="7040880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c11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11" name="tb111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实战·一个完整的 bug 修复闭环</a:t>
            </a:r>
          </a:p>
        </p:txBody>
      </p:sp>
      <p:sp>
        <p:nvSpPr>
          <p:cNvPr id="113" name="tb113"/>
          <p:cNvSpPr txBox="1"/>
          <p:nvPr/>
        </p:nvSpPr>
        <p:spPr>
          <a:xfrm>
            <a:off x="777240" y="1472184"/>
            <a:ext cx="569945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以「GAME OVER 文字被裁切」为例</a:t>
            </a:r>
          </a:p>
        </p:txBody>
      </p:sp>
      <p:sp>
        <p:nvSpPr>
          <p:cNvPr id="114" name="tb114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15" name="tb115"/>
          <p:cNvSpPr txBox="1"/>
          <p:nvPr/>
        </p:nvSpPr>
        <p:spPr>
          <a:xfrm>
            <a:off x="1051560" y="1897634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① 用户反馈 + 提供截图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现象：文字右侧被切掉</a:t>
            </a:r>
          </a:p>
        </p:txBody>
      </p:sp>
      <p:sp>
        <p:nvSpPr>
          <p:cNvPr id="116" name="tb116"/>
          <p:cNvSpPr txBox="1"/>
          <p:nvPr/>
        </p:nvSpPr>
        <p:spPr>
          <a:xfrm>
            <a:off x="777240" y="2278253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17" name="tb117"/>
          <p:cNvSpPr txBox="1"/>
          <p:nvPr/>
        </p:nvSpPr>
        <p:spPr>
          <a:xfrm>
            <a:off x="1051560" y="2250821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② 复现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在真实 Chrome 中复现，测量像素范围</a:t>
            </a:r>
          </a:p>
        </p:txBody>
      </p:sp>
      <p:sp>
        <p:nvSpPr>
          <p:cNvPr id="118" name="tb118"/>
          <p:cNvSpPr txBox="1"/>
          <p:nvPr/>
        </p:nvSpPr>
        <p:spPr>
          <a:xfrm>
            <a:off x="777240" y="263144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19" name="tb119"/>
          <p:cNvSpPr txBox="1"/>
          <p:nvPr/>
        </p:nvSpPr>
        <p:spPr>
          <a:xfrm>
            <a:off x="1051560" y="2604008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③ 定位根因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依赖 measureText 的测量结果不可靠</a:t>
            </a:r>
          </a:p>
        </p:txBody>
      </p:sp>
      <p:sp>
        <p:nvSpPr>
          <p:cNvPr id="120" name="tb120"/>
          <p:cNvSpPr txBox="1"/>
          <p:nvPr/>
        </p:nvSpPr>
        <p:spPr>
          <a:xfrm>
            <a:off x="777240" y="298462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21" name="tb121"/>
          <p:cNvSpPr txBox="1"/>
          <p:nvPr/>
        </p:nvSpPr>
        <p:spPr>
          <a:xfrm>
            <a:off x="1051560" y="2957195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④ 修复 + 写测试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换成逐字定位，并验证各尺寸</a:t>
            </a:r>
          </a:p>
        </p:txBody>
      </p:sp>
      <p:sp>
        <p:nvSpPr>
          <p:cNvPr id="122" name="tb122"/>
          <p:cNvSpPr txBox="1"/>
          <p:nvPr/>
        </p:nvSpPr>
        <p:spPr>
          <a:xfrm>
            <a:off x="777240" y="3337814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23" name="tb123"/>
          <p:cNvSpPr txBox="1"/>
          <p:nvPr/>
        </p:nvSpPr>
        <p:spPr>
          <a:xfrm>
            <a:off x="1051560" y="3310382"/>
            <a:ext cx="5425135" cy="280035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⑤ 提交并推送</a:t>
            </a:r>
            <a:r>
              <a:rPr lang="zh-CN" altLang="en-US" sz="13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提交信息写清根因、方案、验证数据</a:t>
            </a:r>
          </a:p>
        </p:txBody>
      </p:sp>
      <p:sp>
        <p:nvSpPr>
          <p:cNvPr id="124" name="rc124"/>
          <p:cNvSpPr/>
          <p:nvPr/>
        </p:nvSpPr>
        <p:spPr>
          <a:xfrm>
            <a:off x="777240" y="3672713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25" name="tb125"/>
          <p:cNvSpPr txBox="1"/>
          <p:nvPr/>
        </p:nvSpPr>
        <p:spPr>
          <a:xfrm>
            <a:off x="960120" y="3658997"/>
            <a:ext cx="547999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诊断工具输出「✅ 未检测到显示问题」，修复得到验证。</a:t>
            </a:r>
          </a:p>
        </p:txBody>
      </p:sp>
      <p:sp>
        <p:nvSpPr>
          <p:cNvPr id="265" name="tb265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13</a:t>
            </a:r>
          </a:p>
        </p:txBody>
      </p:sp>
      <p:pic>
        <p:nvPicPr>
          <p:cNvPr id="112" name="12_diagnose.png"/>
          <p:cNvPicPr>
            <a:picLocks noChangeAspect="1"/>
          </p:cNvPicPr>
          <p:nvPr/>
        </p:nvPicPr>
        <p:blipFill>
          <a:blip r:embed="rIdImg9"/>
          <a:stretch>
            <a:fillRect/>
          </a:stretch>
        </p:blipFill>
        <p:spPr>
          <a:xfrm>
            <a:off x="6842455" y="2506028"/>
            <a:ext cx="4572000" cy="2714625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c12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27" name="tb127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写好提交信息：小投入大回报</a:t>
            </a:r>
          </a:p>
        </p:txBody>
      </p:sp>
      <p:sp>
        <p:nvSpPr>
          <p:cNvPr id="128" name="tb128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对比一下两种提交信息</a:t>
            </a:r>
          </a:p>
        </p:txBody>
      </p:sp>
      <p:sp>
        <p:nvSpPr>
          <p:cNvPr id="129" name="rc129"/>
          <p:cNvSpPr/>
          <p:nvPr/>
        </p:nvSpPr>
        <p:spPr>
          <a:xfrm>
            <a:off x="777240" y="1906778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30" name="tb130"/>
          <p:cNvSpPr txBox="1"/>
          <p:nvPr/>
        </p:nvSpPr>
        <p:spPr>
          <a:xfrm>
            <a:off x="960120" y="1893062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✗ 差的写法：update   /   修好了   /   asdf</a:t>
            </a:r>
          </a:p>
        </p:txBody>
      </p:sp>
      <p:sp>
        <p:nvSpPr>
          <p:cNvPr id="131" name="rc131"/>
          <p:cNvSpPr/>
          <p:nvPr/>
        </p:nvSpPr>
        <p:spPr>
          <a:xfrm>
            <a:off x="777240" y="2273554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32" name="tb132"/>
          <p:cNvSpPr txBox="1"/>
          <p:nvPr/>
        </p:nvSpPr>
        <p:spPr>
          <a:xfrm>
            <a:off x="960120" y="2259838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✓ 好的写法：fix: 修复浏览器缩放导致画布溢出窗口；文字加硬夹紧</a:t>
            </a:r>
          </a:p>
        </p:txBody>
      </p:sp>
      <p:sp>
        <p:nvSpPr>
          <p:cNvPr id="133" name="tb133"/>
          <p:cNvSpPr txBox="1"/>
          <p:nvPr/>
        </p:nvSpPr>
        <p:spPr>
          <a:xfrm>
            <a:off x="777240" y="265861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34" name="tb134"/>
          <p:cNvSpPr txBox="1"/>
          <p:nvPr/>
        </p:nvSpPr>
        <p:spPr>
          <a:xfrm>
            <a:off x="1051560" y="2631186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为什么值得认真写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：</a:t>
            </a:r>
          </a:p>
        </p:txBody>
      </p:sp>
      <p:sp>
        <p:nvSpPr>
          <p:cNvPr id="135" name="tb135"/>
          <p:cNvSpPr txBox="1"/>
          <p:nvPr/>
        </p:nvSpPr>
        <p:spPr>
          <a:xfrm>
            <a:off x="1051560" y="2952115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三个月后回看，能立刻知道「当初为什么这么改」</a:t>
            </a:r>
          </a:p>
        </p:txBody>
      </p:sp>
      <p:sp>
        <p:nvSpPr>
          <p:cNvPr id="136" name="tb136"/>
          <p:cNvSpPr txBox="1"/>
          <p:nvPr/>
        </p:nvSpPr>
        <p:spPr>
          <a:xfrm>
            <a:off x="1051560" y="3236849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出现问题时可以用 </a:t>
            </a:r>
            <a:r>
              <a:rPr lang="zh-CN" altLang="en-US" sz="120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log</a:t>
            </a: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 快速定位是哪次改动引入的</a:t>
            </a:r>
          </a:p>
        </p:txBody>
      </p:sp>
      <p:sp>
        <p:nvSpPr>
          <p:cNvPr id="137" name="tb137"/>
          <p:cNvSpPr txBox="1"/>
          <p:nvPr/>
        </p:nvSpPr>
        <p:spPr>
          <a:xfrm>
            <a:off x="1051560" y="3521583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团队协作时，别人能看懂你的改动意图</a:t>
            </a:r>
          </a:p>
        </p:txBody>
      </p:sp>
      <p:sp>
        <p:nvSpPr>
          <p:cNvPr id="138" name="tb138"/>
          <p:cNvSpPr txBox="1"/>
          <p:nvPr/>
        </p:nvSpPr>
        <p:spPr>
          <a:xfrm>
            <a:off x="777240" y="3884041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39" name="tb139"/>
          <p:cNvSpPr txBox="1"/>
          <p:nvPr/>
        </p:nvSpPr>
        <p:spPr>
          <a:xfrm>
            <a:off x="1051560" y="3856609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推荐前缀约定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feat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新功能 /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fix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修 bug /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docs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文档 /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chore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杂项</a:t>
            </a:r>
          </a:p>
        </p:txBody>
      </p:sp>
      <p:sp>
        <p:nvSpPr>
          <p:cNvPr id="140" name="tb140"/>
          <p:cNvSpPr txBox="1"/>
          <p:nvPr/>
        </p:nvSpPr>
        <p:spPr>
          <a:xfrm>
            <a:off x="777240" y="4255262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41" name="tb141"/>
          <p:cNvSpPr txBox="1"/>
          <p:nvPr/>
        </p:nvSpPr>
        <p:spPr>
          <a:xfrm>
            <a:off x="1051560" y="4227830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内容较长时用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commit -F 文件名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从文件读取多行说明</a:t>
            </a:r>
          </a:p>
        </p:txBody>
      </p:sp>
      <p:sp>
        <p:nvSpPr>
          <p:cNvPr id="266" name="tb266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c142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43" name="tb143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进阶·三个排查问题的实用命令</a:t>
            </a:r>
          </a:p>
        </p:txBody>
      </p:sp>
      <p:sp>
        <p:nvSpPr>
          <p:cNvPr id="144" name="tb144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出问题时，先用这三个命令把情况看清楚</a:t>
            </a:r>
          </a:p>
        </p:txBody>
      </p:sp>
      <p:sp>
        <p:nvSpPr>
          <p:cNvPr id="145" name="rr145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46" name="tb146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log --oneline --graph --decorate   # 看历史与分支指向</a:t>
            </a:r>
          </a:p>
        </p:txBody>
      </p:sp>
      <p:sp>
        <p:nvSpPr>
          <p:cNvPr id="147" name="rr147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48" name="tb148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show HEAD:index.html &gt; 旧版本.html  # 取出某次提交的文件</a:t>
            </a:r>
          </a:p>
        </p:txBody>
      </p:sp>
      <p:sp>
        <p:nvSpPr>
          <p:cNvPr id="149" name="rr149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50" name="tb150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diff HEAD~1 HEAD                    # 对比最近两次提交</a:t>
            </a:r>
          </a:p>
        </p:txBody>
      </p:sp>
      <p:sp>
        <p:nvSpPr>
          <p:cNvPr id="151" name="rr151"/>
          <p:cNvSpPr/>
          <p:nvPr/>
        </p:nvSpPr>
        <p:spPr>
          <a:xfrm>
            <a:off x="777240" y="2937002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52" name="tb152"/>
          <p:cNvSpPr txBox="1"/>
          <p:nvPr/>
        </p:nvSpPr>
        <p:spPr>
          <a:xfrm>
            <a:off x="923544" y="2996438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ls-remote origin                    # 远程仓库有哪些分支</a:t>
            </a:r>
          </a:p>
        </p:txBody>
      </p:sp>
      <p:sp>
        <p:nvSpPr>
          <p:cNvPr id="153" name="tb153"/>
          <p:cNvSpPr txBox="1"/>
          <p:nvPr/>
        </p:nvSpPr>
        <p:spPr>
          <a:xfrm>
            <a:off x="777240" y="335965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54" name="tb154"/>
          <p:cNvSpPr txBox="1"/>
          <p:nvPr/>
        </p:nvSpPr>
        <p:spPr>
          <a:xfrm>
            <a:off x="1051560" y="3332226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本案例排查显示 bug 时，就用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show HEAD:index.html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取出旧版本，</a:t>
            </a:r>
          </a:p>
        </p:txBody>
      </p:sp>
      <p:sp>
        <p:nvSpPr>
          <p:cNvPr id="155" name="tb155"/>
          <p:cNvSpPr txBox="1"/>
          <p:nvPr/>
        </p:nvSpPr>
        <p:spPr>
          <a:xfrm>
            <a:off x="1051560" y="3653155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与修改后的版本对比，验证修复是否真的生效。</a:t>
            </a:r>
          </a:p>
        </p:txBody>
      </p:sp>
      <p:sp>
        <p:nvSpPr>
          <p:cNvPr id="267" name="tb267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c15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57" name="tb157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进阶·撤销与回退</a:t>
            </a:r>
          </a:p>
        </p:txBody>
      </p:sp>
      <p:sp>
        <p:nvSpPr>
          <p:cNvPr id="158" name="tb158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做错了怎么办？分三种情况</a:t>
            </a:r>
          </a:p>
        </p:txBody>
      </p:sp>
      <p:sp>
        <p:nvSpPr>
          <p:cNvPr id="159" name="tb159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60" name="tb160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情况一：改了文件但还没 add</a:t>
            </a:r>
          </a:p>
        </p:txBody>
      </p:sp>
      <p:sp>
        <p:nvSpPr>
          <p:cNvPr id="161" name="tb161"/>
          <p:cNvSpPr txBox="1"/>
          <p:nvPr/>
        </p:nvSpPr>
        <p:spPr>
          <a:xfrm>
            <a:off x="1051560" y="2218563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20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restore 文件名</a:t>
            </a: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 —— 丢弃修改，恢复原样</a:t>
            </a:r>
          </a:p>
        </p:txBody>
      </p:sp>
      <p:sp>
        <p:nvSpPr>
          <p:cNvPr id="162" name="tb162"/>
          <p:cNvSpPr txBox="1"/>
          <p:nvPr/>
        </p:nvSpPr>
        <p:spPr>
          <a:xfrm>
            <a:off x="777240" y="2581021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63" name="tb163"/>
          <p:cNvSpPr txBox="1"/>
          <p:nvPr/>
        </p:nvSpPr>
        <p:spPr>
          <a:xfrm>
            <a:off x="1051560" y="2553589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情况二：已经 add 但还没 commit</a:t>
            </a:r>
          </a:p>
        </p:txBody>
      </p:sp>
      <p:sp>
        <p:nvSpPr>
          <p:cNvPr id="164" name="tb164"/>
          <p:cNvSpPr txBox="1"/>
          <p:nvPr/>
        </p:nvSpPr>
        <p:spPr>
          <a:xfrm>
            <a:off x="1051560" y="2874518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20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restore --staged 文件名</a:t>
            </a: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 —— 移出暂存区，改动仍保留</a:t>
            </a:r>
          </a:p>
        </p:txBody>
      </p:sp>
      <p:sp>
        <p:nvSpPr>
          <p:cNvPr id="165" name="tb165"/>
          <p:cNvSpPr txBox="1"/>
          <p:nvPr/>
        </p:nvSpPr>
        <p:spPr>
          <a:xfrm>
            <a:off x="777240" y="323697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66" name="tb166"/>
          <p:cNvSpPr txBox="1"/>
          <p:nvPr/>
        </p:nvSpPr>
        <p:spPr>
          <a:xfrm>
            <a:off x="1051560" y="320954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情况三：已经 commit</a:t>
            </a:r>
          </a:p>
        </p:txBody>
      </p:sp>
      <p:sp>
        <p:nvSpPr>
          <p:cNvPr id="167" name="tb167"/>
          <p:cNvSpPr txBox="1"/>
          <p:nvPr/>
        </p:nvSpPr>
        <p:spPr>
          <a:xfrm>
            <a:off x="1051560" y="3530473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还没推送：</a:t>
            </a:r>
            <a:r>
              <a:rPr lang="zh-CN" altLang="en-US" sz="120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reset --soft HEAD~1</a:t>
            </a: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 撤销提交但保留改动</a:t>
            </a:r>
          </a:p>
        </p:txBody>
      </p:sp>
      <p:sp>
        <p:nvSpPr>
          <p:cNvPr id="168" name="tb168"/>
          <p:cNvSpPr txBox="1"/>
          <p:nvPr/>
        </p:nvSpPr>
        <p:spPr>
          <a:xfrm>
            <a:off x="1051560" y="3815207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lang="zh-CN" altLang="en-US" sz="130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已经推送：用 </a:t>
            </a:r>
            <a:r>
              <a:rPr lang="zh-CN" altLang="en-US" sz="120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revert &lt;hash&gt;</a:t>
            </a:r>
            <a:r>
              <a:rPr lang="zh-CN" altLang="en-US" sz="130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 —— 生成一次反向提交</a:t>
            </a:r>
          </a:p>
        </p:txBody>
      </p:sp>
      <p:sp>
        <p:nvSpPr>
          <p:cNvPr id="169" name="rc169"/>
          <p:cNvSpPr/>
          <p:nvPr/>
        </p:nvSpPr>
        <p:spPr>
          <a:xfrm>
            <a:off x="777240" y="4159377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70" name="tb170"/>
          <p:cNvSpPr txBox="1"/>
          <p:nvPr/>
        </p:nvSpPr>
        <p:spPr>
          <a:xfrm>
            <a:off x="960120" y="4145661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已推送的提交绝不要用 reset 改写历史，否则会和远程冲突。</a:t>
            </a:r>
          </a:p>
        </p:txBody>
      </p:sp>
      <p:sp>
        <p:nvSpPr>
          <p:cNvPr id="268" name="tb268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c171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72" name="tb172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进阶·分支与 Pull Request</a:t>
            </a:r>
          </a:p>
        </p:txBody>
      </p:sp>
      <p:sp>
        <p:nvSpPr>
          <p:cNvPr id="173" name="tb173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多人协作或多功能并行时才需要分支</a:t>
            </a:r>
          </a:p>
        </p:txBody>
      </p:sp>
      <p:sp>
        <p:nvSpPr>
          <p:cNvPr id="174" name="rr174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75" name="tb175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switch -c feature/新功能    # 从当前分支新建并切换</a:t>
            </a:r>
          </a:p>
        </p:txBody>
      </p:sp>
      <p:sp>
        <p:nvSpPr>
          <p:cNvPr id="176" name="rr176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77" name="tb177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add -A &amp;&amp; git commit -m "..." # 在新分支上提交</a:t>
            </a:r>
          </a:p>
        </p:txBody>
      </p:sp>
      <p:sp>
        <p:nvSpPr>
          <p:cNvPr id="178" name="rr178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79" name="tb179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push -u origin feature/新功能</a:t>
            </a:r>
          </a:p>
        </p:txBody>
      </p:sp>
      <p:sp>
        <p:nvSpPr>
          <p:cNvPr id="180" name="tb180"/>
          <p:cNvSpPr txBox="1"/>
          <p:nvPr/>
        </p:nvSpPr>
        <p:spPr>
          <a:xfrm>
            <a:off x="777240" y="300101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81" name="tb181"/>
          <p:cNvSpPr txBox="1"/>
          <p:nvPr/>
        </p:nvSpPr>
        <p:spPr>
          <a:xfrm>
            <a:off x="1051560" y="2973578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推送后到 GitHub 上点 </a:t>
            </a: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Compare &amp; pull request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发起 PR</a:t>
            </a:r>
          </a:p>
        </p:txBody>
      </p:sp>
      <p:sp>
        <p:nvSpPr>
          <p:cNvPr id="182" name="tb182"/>
          <p:cNvSpPr txBox="1"/>
          <p:nvPr/>
        </p:nvSpPr>
        <p:spPr>
          <a:xfrm>
            <a:off x="1051560" y="3294507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团队成员可以逐行审查、评论、请求修改</a:t>
            </a:r>
          </a:p>
        </p:txBody>
      </p:sp>
      <p:sp>
        <p:nvSpPr>
          <p:cNvPr id="183" name="tb183"/>
          <p:cNvSpPr txBox="1"/>
          <p:nvPr/>
        </p:nvSpPr>
        <p:spPr>
          <a:xfrm>
            <a:off x="1051560" y="3579241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审查通过后点 Merge，代码才合并进 main</a:t>
            </a:r>
          </a:p>
        </p:txBody>
      </p:sp>
      <p:sp>
        <p:nvSpPr>
          <p:cNvPr id="184" name="tb184"/>
          <p:cNvSpPr txBox="1"/>
          <p:nvPr/>
        </p:nvSpPr>
        <p:spPr>
          <a:xfrm>
            <a:off x="777240" y="3941699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85" name="tb185"/>
          <p:cNvSpPr txBox="1"/>
          <p:nvPr/>
        </p:nvSpPr>
        <p:spPr>
          <a:xfrm>
            <a:off x="1051560" y="3914267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单人小项目可以只用 main 一条分支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（本案例就是如此）</a:t>
            </a:r>
          </a:p>
        </p:txBody>
      </p:sp>
      <p:sp>
        <p:nvSpPr>
          <p:cNvPr id="269" name="tb269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rc186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87" name="tb187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GitHub 上你能看到什么</a:t>
            </a:r>
          </a:p>
        </p:txBody>
      </p:sp>
      <p:sp>
        <p:nvSpPr>
          <p:cNvPr id="189" name="tb189"/>
          <p:cNvSpPr txBox="1"/>
          <p:nvPr/>
        </p:nvSpPr>
        <p:spPr>
          <a:xfrm>
            <a:off x="777240" y="5989320"/>
            <a:ext cx="10637215" cy="29260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6C7A99"/>
                </a:solidFill>
                <a:latin typeface="Microsoft YaHei"/>
                <a:ea typeface="Microsoft YaHei"/>
                <a:cs typeface="Microsoft YaHei"/>
              </a:rPr>
              <a:t>代码、提交历史、README、语言统计都在一个页面里</a:t>
            </a:r>
          </a:p>
        </p:txBody>
      </p:sp>
      <p:sp>
        <p:nvSpPr>
          <p:cNvPr id="270" name="tb270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18</a:t>
            </a:r>
          </a:p>
        </p:txBody>
      </p:sp>
      <p:pic>
        <p:nvPicPr>
          <p:cNvPr id="188" name="06_github_page.png"/>
          <p:cNvPicPr>
            <a:picLocks noChangeAspect="1"/>
          </p:cNvPicPr>
          <p:nvPr/>
        </p:nvPicPr>
        <p:blipFill>
          <a:blip r:embed="rIdImg10"/>
          <a:stretch>
            <a:fillRect/>
          </a:stretch>
        </p:blipFill>
        <p:spPr>
          <a:xfrm>
            <a:off x="2231950" y="1371600"/>
            <a:ext cx="7727795" cy="45262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c19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191" name="tb191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GitHub 能做什么</a:t>
            </a:r>
          </a:p>
        </p:txBody>
      </p:sp>
      <p:sp>
        <p:nvSpPr>
          <p:cNvPr id="192" name="tb192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不只是「存代码的地方」</a:t>
            </a:r>
          </a:p>
        </p:txBody>
      </p:sp>
      <p:sp>
        <p:nvSpPr>
          <p:cNvPr id="193" name="tb193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94" name="tb194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仓库托管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云端备份，换电脑 clone 一下就能继续</a:t>
            </a:r>
          </a:p>
        </p:txBody>
      </p:sp>
      <p:sp>
        <p:nvSpPr>
          <p:cNvPr id="195" name="tb195"/>
          <p:cNvSpPr txBox="1"/>
          <p:nvPr/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96" name="tb196"/>
          <p:cNvSpPr txBox="1"/>
          <p:nvPr/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Pull Request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代码审查与合并的标准流程</a:t>
            </a:r>
          </a:p>
        </p:txBody>
      </p:sp>
      <p:sp>
        <p:nvSpPr>
          <p:cNvPr id="197" name="tb197"/>
          <p:cNvSpPr txBox="1"/>
          <p:nvPr/>
        </p:nvSpPr>
        <p:spPr>
          <a:xfrm>
            <a:off x="777240" y="266750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198" name="tb198"/>
          <p:cNvSpPr txBox="1"/>
          <p:nvPr/>
        </p:nvSpPr>
        <p:spPr>
          <a:xfrm>
            <a:off x="1051560" y="2640076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Issue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记录 bug 与需求，可与提交关联</a:t>
            </a:r>
          </a:p>
        </p:txBody>
      </p:sp>
      <p:sp>
        <p:nvSpPr>
          <p:cNvPr id="199" name="tb199"/>
          <p:cNvSpPr txBox="1"/>
          <p:nvPr/>
        </p:nvSpPr>
        <p:spPr>
          <a:xfrm>
            <a:off x="777240" y="3038729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00" name="tb200"/>
          <p:cNvSpPr txBox="1"/>
          <p:nvPr/>
        </p:nvSpPr>
        <p:spPr>
          <a:xfrm>
            <a:off x="1051560" y="3011297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Actions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自动化测试、构建、部署</a:t>
            </a:r>
          </a:p>
        </p:txBody>
      </p:sp>
      <p:sp>
        <p:nvSpPr>
          <p:cNvPr id="201" name="tb201"/>
          <p:cNvSpPr txBox="1"/>
          <p:nvPr/>
        </p:nvSpPr>
        <p:spPr>
          <a:xfrm>
            <a:off x="777240" y="340995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02" name="tb202"/>
          <p:cNvSpPr txBox="1"/>
          <p:nvPr/>
        </p:nvSpPr>
        <p:spPr>
          <a:xfrm>
            <a:off x="1051560" y="3382518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Pages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直接把仓库里的网页发布成网站</a:t>
            </a:r>
          </a:p>
        </p:txBody>
      </p:sp>
      <p:sp>
        <p:nvSpPr>
          <p:cNvPr id="203" name="tb203"/>
          <p:cNvSpPr txBox="1"/>
          <p:nvPr/>
        </p:nvSpPr>
        <p:spPr>
          <a:xfrm>
            <a:off x="1051560" y="3703447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本案例中，只要在 Settings → Pages 里选 main 分支，</a:t>
            </a:r>
          </a:p>
        </p:txBody>
      </p:sp>
      <p:sp>
        <p:nvSpPr>
          <p:cNvPr id="204" name="tb204"/>
          <p:cNvSpPr txBox="1"/>
          <p:nvPr/>
        </p:nvSpPr>
        <p:spPr>
          <a:xfrm>
            <a:off x="1051560" y="3988181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就能把游戏上线到 rrafiya.github.io/git_course 直接在线玩。</a:t>
            </a:r>
          </a:p>
        </p:txBody>
      </p:sp>
      <p:sp>
        <p:nvSpPr>
          <p:cNvPr id="271" name="tb271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c205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06" name="tb206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避坑指南（都是本案例真实踩过的）</a:t>
            </a:r>
          </a:p>
        </p:txBody>
      </p:sp>
      <p:sp>
        <p:nvSpPr>
          <p:cNvPr id="207" name="tb207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六个高频问题</a:t>
            </a:r>
          </a:p>
        </p:txBody>
      </p:sp>
      <p:sp>
        <p:nvSpPr>
          <p:cNvPr id="208" name="tb208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09" name="tb209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① 没配姓名邮箱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commit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直接报错。先跑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config --global</a:t>
            </a:r>
          </a:p>
        </p:txBody>
      </p:sp>
      <p:sp>
        <p:nvSpPr>
          <p:cNvPr id="210" name="tb210"/>
          <p:cNvSpPr txBox="1"/>
          <p:nvPr/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11" name="tb211"/>
          <p:cNvSpPr txBox="1"/>
          <p:nvPr/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② 以为 commit 就等于上传了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必须再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git push</a:t>
            </a:r>
          </a:p>
        </p:txBody>
      </p:sp>
      <p:sp>
        <p:nvSpPr>
          <p:cNvPr id="212" name="tb212"/>
          <p:cNvSpPr txBox="1"/>
          <p:nvPr/>
        </p:nvSpPr>
        <p:spPr>
          <a:xfrm>
            <a:off x="777240" y="266750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13" name="tb213"/>
          <p:cNvSpPr txBox="1"/>
          <p:nvPr/>
        </p:nvSpPr>
        <p:spPr>
          <a:xfrm>
            <a:off x="1051560" y="2640076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③ 在网页建仓库时勾了 README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会和本地历史冲突导致推送失败</a:t>
            </a:r>
          </a:p>
        </p:txBody>
      </p:sp>
      <p:sp>
        <p:nvSpPr>
          <p:cNvPr id="214" name="tb214"/>
          <p:cNvSpPr txBox="1"/>
          <p:nvPr/>
        </p:nvSpPr>
        <p:spPr>
          <a:xfrm>
            <a:off x="777240" y="3038729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15" name="tb215"/>
          <p:cNvSpPr txBox="1"/>
          <p:nvPr/>
        </p:nvSpPr>
        <p:spPr>
          <a:xfrm>
            <a:off x="1051560" y="3011297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④ 把密钥写进代码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.gitignore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里先排除 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.env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lang="zh-CN" altLang="en-US" sz="13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*.key</a:t>
            </a:r>
          </a:p>
        </p:txBody>
      </p:sp>
      <p:sp>
        <p:nvSpPr>
          <p:cNvPr id="216" name="tb216"/>
          <p:cNvSpPr txBox="1"/>
          <p:nvPr/>
        </p:nvSpPr>
        <p:spPr>
          <a:xfrm>
            <a:off x="777240" y="3409950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17" name="tb217"/>
          <p:cNvSpPr txBox="1"/>
          <p:nvPr/>
        </p:nvSpPr>
        <p:spPr>
          <a:xfrm>
            <a:off x="1051560" y="3382518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⑤ Token 泄露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用完立刻到 GitHub Settings 里吊销</a:t>
            </a:r>
          </a:p>
        </p:txBody>
      </p:sp>
      <p:sp>
        <p:nvSpPr>
          <p:cNvPr id="218" name="tb218"/>
          <p:cNvSpPr txBox="1"/>
          <p:nvPr/>
        </p:nvSpPr>
        <p:spPr>
          <a:xfrm>
            <a:off x="777240" y="3781171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19" name="tb219"/>
          <p:cNvSpPr txBox="1"/>
          <p:nvPr/>
        </p:nvSpPr>
        <p:spPr>
          <a:xfrm>
            <a:off x="1051560" y="3753739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⑥ 提交信息只写「update」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三个月后自己也看不懂</a:t>
            </a:r>
          </a:p>
        </p:txBody>
      </p:sp>
      <p:sp>
        <p:nvSpPr>
          <p:cNvPr id="272" name="tb272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c220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21" name="tb221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现在就可以开始的六步</a:t>
            </a:r>
          </a:p>
        </p:txBody>
      </p:sp>
      <p:sp>
        <p:nvSpPr>
          <p:cNvPr id="222" name="tb222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从零到代码上云，六个命令</a:t>
            </a:r>
          </a:p>
        </p:txBody>
      </p:sp>
      <p:sp>
        <p:nvSpPr>
          <p:cNvPr id="223" name="rr223"/>
          <p:cNvSpPr/>
          <p:nvPr/>
        </p:nvSpPr>
        <p:spPr>
          <a:xfrm>
            <a:off x="777240" y="186105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24" name="tb224"/>
          <p:cNvSpPr txBox="1"/>
          <p:nvPr/>
        </p:nvSpPr>
        <p:spPr>
          <a:xfrm>
            <a:off x="923544" y="1920494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1.  git init -b main</a:t>
            </a:r>
          </a:p>
        </p:txBody>
      </p:sp>
      <p:sp>
        <p:nvSpPr>
          <p:cNvPr id="225" name="rr225"/>
          <p:cNvSpPr/>
          <p:nvPr/>
        </p:nvSpPr>
        <p:spPr>
          <a:xfrm>
            <a:off x="777240" y="2219706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26" name="tb226"/>
          <p:cNvSpPr txBox="1"/>
          <p:nvPr/>
        </p:nvSpPr>
        <p:spPr>
          <a:xfrm>
            <a:off x="923544" y="2279142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2.  git config --global user.name / user.email</a:t>
            </a:r>
          </a:p>
        </p:txBody>
      </p:sp>
      <p:sp>
        <p:nvSpPr>
          <p:cNvPr id="227" name="rr227"/>
          <p:cNvSpPr/>
          <p:nvPr/>
        </p:nvSpPr>
        <p:spPr>
          <a:xfrm>
            <a:off x="777240" y="2578354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28" name="tb228"/>
          <p:cNvSpPr txBox="1"/>
          <p:nvPr/>
        </p:nvSpPr>
        <p:spPr>
          <a:xfrm>
            <a:off x="923544" y="2637790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3.  git add -A &amp;&amp; git commit -m "feat: 初始提交"</a:t>
            </a:r>
          </a:p>
        </p:txBody>
      </p:sp>
      <p:sp>
        <p:nvSpPr>
          <p:cNvPr id="229" name="rr229"/>
          <p:cNvSpPr/>
          <p:nvPr/>
        </p:nvSpPr>
        <p:spPr>
          <a:xfrm>
            <a:off x="777240" y="2937002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30" name="tb230"/>
          <p:cNvSpPr txBox="1"/>
          <p:nvPr/>
        </p:nvSpPr>
        <p:spPr>
          <a:xfrm>
            <a:off x="923544" y="2996438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4.  在 GitHub 网页新建空仓库（不要勾 README）</a:t>
            </a:r>
          </a:p>
        </p:txBody>
      </p:sp>
      <p:sp>
        <p:nvSpPr>
          <p:cNvPr id="231" name="rr231"/>
          <p:cNvSpPr/>
          <p:nvPr/>
        </p:nvSpPr>
        <p:spPr>
          <a:xfrm>
            <a:off x="777240" y="3295650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32" name="tb232"/>
          <p:cNvSpPr txBox="1"/>
          <p:nvPr/>
        </p:nvSpPr>
        <p:spPr>
          <a:xfrm>
            <a:off x="923544" y="3355086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5.  git remote add origin &lt;仓库地址&gt;</a:t>
            </a:r>
          </a:p>
        </p:txBody>
      </p:sp>
      <p:sp>
        <p:nvSpPr>
          <p:cNvPr id="233" name="rr233"/>
          <p:cNvSpPr/>
          <p:nvPr/>
        </p:nvSpPr>
        <p:spPr>
          <a:xfrm>
            <a:off x="777240" y="3654298"/>
            <a:ext cx="10637215" cy="322072"/>
          </a:xfrm>
          <a:prstGeom prst="roundRect">
            <a:avLst>
              <a:gd name="adj" fmla="val 22000"/>
            </a:avLst>
          </a:prstGeom>
          <a:solidFill>
            <a:srgbClr val="060A14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34" name="tb234"/>
          <p:cNvSpPr txBox="1"/>
          <p:nvPr/>
        </p:nvSpPr>
        <p:spPr>
          <a:xfrm>
            <a:off x="923544" y="3713734"/>
            <a:ext cx="10344607" cy="22148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50" b="0" i="0" dirty="0">
                <a:solidFill>
                  <a:srgbClr val="7FE9FF"/>
                </a:solidFill>
                <a:latin typeface="Consolas"/>
                <a:ea typeface="Microsoft YaHei"/>
                <a:cs typeface="Consolas"/>
              </a:rPr>
              <a:t>6.  git push -u origin main</a:t>
            </a:r>
          </a:p>
        </p:txBody>
      </p:sp>
      <p:sp>
        <p:nvSpPr>
          <p:cNvPr id="235" name="rc235"/>
          <p:cNvSpPr/>
          <p:nvPr/>
        </p:nvSpPr>
        <p:spPr>
          <a:xfrm>
            <a:off x="777240" y="4058666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36" name="tb236"/>
          <p:cNvSpPr txBox="1"/>
          <p:nvPr/>
        </p:nvSpPr>
        <p:spPr>
          <a:xfrm>
            <a:off x="960120" y="4044950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之后每改一次：git add -A → git commit -m "..." → git push</a:t>
            </a:r>
          </a:p>
        </p:txBody>
      </p:sp>
      <p:sp>
        <p:nvSpPr>
          <p:cNvPr id="273" name="tb273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c237"/>
          <p:cNvSpPr/>
          <p:nvPr/>
        </p:nvSpPr>
        <p:spPr>
          <a:xfrm>
            <a:off x="777240" y="749808"/>
            <a:ext cx="713232" cy="59436"/>
          </a:xfrm>
          <a:prstGeom prst="rect">
            <a:avLst/>
          </a:prstGeom>
          <a:solidFill>
            <a:srgbClr val="4DD4FF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38" name="tb238"/>
          <p:cNvSpPr txBox="1"/>
          <p:nvPr/>
        </p:nvSpPr>
        <p:spPr>
          <a:xfrm>
            <a:off x="777240" y="475488"/>
            <a:ext cx="10637215" cy="603504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700" b="1" i="0" dirty="0">
                <a:solidFill>
                  <a:srgbClr val="9FE8FF"/>
                </a:solidFill>
                <a:latin typeface="Microsoft YaHei"/>
                <a:ea typeface="Microsoft YaHei"/>
                <a:cs typeface="Microsoft YaHei"/>
              </a:rPr>
              <a:t>小结</a:t>
            </a:r>
          </a:p>
        </p:txBody>
      </p:sp>
      <p:sp>
        <p:nvSpPr>
          <p:cNvPr id="239" name="tb239"/>
          <p:cNvSpPr txBox="1"/>
          <p:nvPr/>
        </p:nvSpPr>
        <p:spPr>
          <a:xfrm>
            <a:off x="777240" y="1472184"/>
            <a:ext cx="10637215" cy="352298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700" b="0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记住三句话就够了</a:t>
            </a:r>
          </a:p>
        </p:txBody>
      </p:sp>
      <p:sp>
        <p:nvSpPr>
          <p:cNvPr id="240" name="tb240"/>
          <p:cNvSpPr txBox="1"/>
          <p:nvPr/>
        </p:nvSpPr>
        <p:spPr>
          <a:xfrm>
            <a:off x="777240" y="1925066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41" name="tb241"/>
          <p:cNvSpPr txBox="1"/>
          <p:nvPr/>
        </p:nvSpPr>
        <p:spPr>
          <a:xfrm>
            <a:off x="1051560" y="1897634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① Git 是工具，GitHub 是网站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两者独立，常一起用</a:t>
            </a:r>
          </a:p>
        </p:txBody>
      </p:sp>
      <p:sp>
        <p:nvSpPr>
          <p:cNvPr id="242" name="tb242"/>
          <p:cNvSpPr txBox="1"/>
          <p:nvPr/>
        </p:nvSpPr>
        <p:spPr>
          <a:xfrm>
            <a:off x="777240" y="2296287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43" name="tb243"/>
          <p:cNvSpPr txBox="1"/>
          <p:nvPr/>
        </p:nvSpPr>
        <p:spPr>
          <a:xfrm>
            <a:off x="1051560" y="2268855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② 三区域 + 五步循环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工作区 → 暂存区 → 本地仓库 → 远程仓库</a:t>
            </a:r>
          </a:p>
        </p:txBody>
      </p:sp>
      <p:sp>
        <p:nvSpPr>
          <p:cNvPr id="244" name="tb244"/>
          <p:cNvSpPr txBox="1"/>
          <p:nvPr/>
        </p:nvSpPr>
        <p:spPr>
          <a:xfrm>
            <a:off x="777240" y="2667508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45" name="tb245"/>
          <p:cNvSpPr txBox="1"/>
          <p:nvPr/>
        </p:nvSpPr>
        <p:spPr>
          <a:xfrm>
            <a:off x="1051560" y="2640076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1" i="0" dirty="0">
                <a:solidFill>
                  <a:srgbClr val="FFD166"/>
                </a:solidFill>
                <a:latin typeface="Microsoft YaHei"/>
                <a:ea typeface="Microsoft YaHei"/>
                <a:cs typeface="Microsoft YaHei"/>
              </a:rPr>
              <a:t>③ commit 是本地的，push 才上云</a:t>
            </a: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 —— 这是最容易搞混的一点</a:t>
            </a:r>
          </a:p>
        </p:txBody>
      </p:sp>
      <p:sp>
        <p:nvSpPr>
          <p:cNvPr id="246" name="tb246"/>
          <p:cNvSpPr txBox="1"/>
          <p:nvPr/>
        </p:nvSpPr>
        <p:spPr>
          <a:xfrm>
            <a:off x="1051560" y="2961005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47" name="tb247"/>
          <p:cNvSpPr txBox="1"/>
          <p:nvPr/>
        </p:nvSpPr>
        <p:spPr>
          <a:xfrm>
            <a:off x="777240" y="3323463"/>
            <a:ext cx="219456" cy="256032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000" b="0" i="0" dirty="0">
                <a:solidFill>
                  <a:srgbClr val="4DD4FF"/>
                </a:solidFill>
                <a:latin typeface="Microsoft YaHei"/>
                <a:ea typeface="Microsoft YaHei"/>
                <a:cs typeface="Microsoft YaHei"/>
              </a:rPr>
              <a:t>◆</a:t>
            </a:r>
          </a:p>
        </p:txBody>
      </p:sp>
      <p:sp>
        <p:nvSpPr>
          <p:cNvPr id="248" name="tb248"/>
          <p:cNvSpPr txBox="1"/>
          <p:nvPr/>
        </p:nvSpPr>
        <p:spPr>
          <a:xfrm>
            <a:off x="1051560" y="3296031"/>
            <a:ext cx="10362895" cy="298069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50" b="0" i="0" dirty="0">
                <a:solidFill>
                  <a:srgbClr val="DCE6FA"/>
                </a:solidFill>
                <a:latin typeface="Microsoft YaHei"/>
                <a:ea typeface="Microsoft YaHei"/>
                <a:cs typeface="Microsoft YaHei"/>
              </a:rPr>
              <a:t>本案例做到了什么：</a:t>
            </a:r>
          </a:p>
        </p:txBody>
      </p:sp>
      <p:sp>
        <p:nvSpPr>
          <p:cNvPr id="249" name="tb249"/>
          <p:cNvSpPr txBox="1"/>
          <p:nvPr/>
        </p:nvSpPr>
        <p:spPr>
          <a:xfrm>
            <a:off x="1051560" y="3616960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从空文件夹到 11 次结构清晰的提交</a:t>
            </a:r>
          </a:p>
        </p:txBody>
      </p:sp>
      <p:sp>
        <p:nvSpPr>
          <p:cNvPr id="250" name="tb250"/>
          <p:cNvSpPr txBox="1"/>
          <p:nvPr/>
        </p:nvSpPr>
        <p:spPr>
          <a:xfrm>
            <a:off x="1051560" y="3901694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每次修改单独成一次提交，历史可追溯、可回退</a:t>
            </a:r>
          </a:p>
        </p:txBody>
      </p:sp>
      <p:sp>
        <p:nvSpPr>
          <p:cNvPr id="251" name="tb251"/>
          <p:cNvSpPr txBox="1"/>
          <p:nvPr/>
        </p:nvSpPr>
        <p:spPr>
          <a:xfrm>
            <a:off x="1051560" y="4186428"/>
            <a:ext cx="10362895" cy="261874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300" b="0" i="0" dirty="0">
                <a:solidFill>
                  <a:srgbClr val="93A3C4"/>
                </a:solidFill>
                <a:latin typeface="Microsoft YaHei"/>
                <a:ea typeface="Microsoft YaHei"/>
                <a:cs typeface="Microsoft YaHei"/>
              </a:rPr>
              <a:t>· 完整的 README 文档与专用诊断工具一并纳入版本控制</a:t>
            </a:r>
          </a:p>
        </p:txBody>
      </p:sp>
      <p:sp>
        <p:nvSpPr>
          <p:cNvPr id="252" name="rc252"/>
          <p:cNvSpPr/>
          <p:nvPr/>
        </p:nvSpPr>
        <p:spPr>
          <a:xfrm>
            <a:off x="777240" y="4530598"/>
            <a:ext cx="41148" cy="270764"/>
          </a:xfrm>
          <a:prstGeom prst="rect">
            <a:avLst/>
          </a:prstGeom>
          <a:solidFill>
            <a:srgbClr val="63F5A0"/>
          </a:solidFill>
          <a:ln>
            <a:noFill/>
          </a:ln>
        </p:spPr>
        <p:txBody>
          <a:bodyPr wrap="square" lIns="0" rIns="0" tIns="0" bIns="0" anchor="t">
            <a:normAutofit/>
          </a:bodyPr>
          <a:lstStyle/>
          <a:p>
            <a:endParaRPr lang="zh-CN"/>
          </a:p>
        </p:txBody>
      </p:sp>
      <p:sp>
        <p:nvSpPr>
          <p:cNvPr id="253" name="tb253"/>
          <p:cNvSpPr txBox="1"/>
          <p:nvPr/>
        </p:nvSpPr>
        <p:spPr>
          <a:xfrm>
            <a:off x="960120" y="4516882"/>
            <a:ext cx="10417759" cy="298196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 marL="0" indent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i="0" dirty="0">
                <a:solidFill>
                  <a:srgbClr val="63F5A0"/>
                </a:solidFill>
                <a:latin typeface="Microsoft YaHei"/>
                <a:ea typeface="Microsoft YaHei"/>
                <a:cs typeface="Microsoft YaHei"/>
              </a:rPr>
              <a:t>版本控制的价值不在于「备份」，而在于「每一步都能讲清楚为什么」。</a:t>
            </a:r>
          </a:p>
        </p:txBody>
      </p:sp>
      <p:sp>
        <p:nvSpPr>
          <p:cNvPr id="274" name="tb274"/>
          <p:cNvSpPr txBox="1"/>
          <p:nvPr/>
        </p:nvSpPr>
        <p:spPr>
          <a:xfrm>
            <a:off x="10881360" y="64282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100" b="0" i="0" dirty="0">
                <a:solidFill>
                  <a:srgbClr val="6C7A99"/>
                </a:solidFill>
                <a:latin typeface="Consolas"/>
                <a:ea typeface="Microsoft YaHei"/>
                <a:cs typeface="Consolas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itTutorial">
  <a:themeElements>
    <a:clrScheme name="GitTutorial">
      <a:dk1>
        <a:sysClr val="windowText" lastClr="000000"/>
      </a:dk1>
      <a:lt1>
        <a:sysClr val="window" lastClr="FFFFFF"/>
      </a:lt1>
      <a:dk2>
        <a:srgbClr val="0B1020"/>
      </a:dk2>
      <a:lt2>
        <a:srgbClr val="111A2C"/>
      </a:lt2>
      <a:accent1>
        <a:srgbClr val="4DD4FF"/>
      </a:accent1>
      <a:accent2>
        <a:srgbClr val="FFD166"/>
      </a:accent2>
      <a:accent3>
        <a:srgbClr val="63F5A0"/>
      </a:accent3>
      <a:accent4>
        <a:srgbClr val="9FE8FF"/>
      </a:accent4>
      <a:accent5>
        <a:srgbClr val="7FE9FF"/>
      </a:accent5>
      <a:accent6>
        <a:srgbClr val="6C7A99"/>
      </a:accent6>
      <a:hlink>
        <a:srgbClr val="4DD4FF"/>
      </a:hlink>
      <a:folHlink>
        <a:srgbClr val="63F5A0"/>
      </a:folHlink>
    </a:clrScheme>
    <a:fontScheme name="GitTutorial">
      <a:maj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ajorFont>
      <a:minorFont>
        <a:latin typeface="Microsoft YaHei"/>
        <a:ea typeface="Microsoft YaHei"/>
        <a:cs typeface=""/>
        <a:font script="zh-CN" typeface="宋体"/>
        <a:font script="ja-JP" typeface="ＭＳ Ｐゴシック"/>
        <a:font script="ko-KR" typeface="맑은 고딕"/>
        <a:font script="zh-TW" typeface="新細明體"/>
        <a:font script="ru-RU" typeface="Arial"/>
        <a:font script="en-US" typeface="Microsoft YaHei"/>
        <a:font script="ar-SA" typeface="Arial"/>
      </a:minorFont>
    </a:fontScheme>
    <a:fmtScheme name="GitTu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22</Slides>
  <PresentationFormat>宽屏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与 GitHub 从入门到实战</dc:title>
  <dc:creator>rrafiya</dc:creator>
  <cp:lastModifiedBy>rrafiya</cp:lastModifiedBy>
  <dcterms:created xsi:type="dcterms:W3CDTF">2026-09-19T11:05:41Z</dcterms:created>
  <dcterms:modified xsi:type="dcterms:W3CDTF">2026-09-19T11:05:41Z</dcterms:modified>
</cp:coreProperties>
</file>